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fonts/font1.fntdata" ContentType="application/x-fontdata"/>
  <Override PartName="/ppt/fonts/font2.fntdata" ContentType="application/x-fontdata"/>
  <Override PartName="/ppt/fonts/font3.fntdata" ContentType="application/x-fontdata"/>
  <Override PartName="/ppt/fonts/font4.fntdata" ContentType="application/x-fontdata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  <p:sldMasterId id="2147483660" r:id="rId3"/>
    <p:sldMasterId id="2147483663" r:id="rId4"/>
  </p:sldMasterIdLst>
  <p:notesMasterIdLst>
    <p:notesMasterId r:id="rId6"/>
  </p:notesMasterIdLst>
  <p:sldIdLst>
    <p:sldId id="257" r:id="rId5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</p:sldIdLst>
  <p:sldSz cx="12191365" cy="6858000"/>
  <p:notesSz cx="6858000" cy="9144000"/>
  <p:embeddedFontLst>
    <p:embeddedFont>
      <p:font typeface="Alexandria" charset="0"/>
      <p:regular r:id="rId25"/>
    </p:embeddedFont>
    <p:embeddedFont>
      <p:font typeface="Alexandria Bold" charset="0"/>
      <p:regular r:id="rId26"/>
    </p:embeddedFont>
    <p:embeddedFont>
      <p:font typeface="Nobile" charset="0"/>
      <p:regular r:id="rId27"/>
    </p:embeddedFont>
    <p:embeddedFont>
      <p:font typeface="Nobile Bold" charset="0"/>
      <p:regular r:id="rId2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73" d="100"/>
          <a:sy n="73" d="100"/>
        </p:scale>
        <p:origin x="0" y="0"/>
      </p:cViewPr>
      <p:guideLst>
        <p:guide orient="horz" pos="2139"/>
        <p:guide pos="2880"/>
      </p:guideLst>
    </p:cSldViewPr>
  </p:slide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4.xml"/><Relationship Id="rId8" Type="http://schemas.openxmlformats.org/officeDocument/2006/relationships/slide" Target="slides/slide3.xml"/><Relationship Id="rId7" Type="http://schemas.openxmlformats.org/officeDocument/2006/relationships/slide" Target="slides/slide2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4" Type="http://schemas.openxmlformats.org/officeDocument/2006/relationships/slideMaster" Target="slideMasters/slideMaster3.xml"/><Relationship Id="rId3" Type="http://schemas.openxmlformats.org/officeDocument/2006/relationships/slideMaster" Target="slideMasters/slideMaster2.xml"/><Relationship Id="rId28" Type="http://schemas.openxmlformats.org/officeDocument/2006/relationships/font" Target="fonts/font4.fntdata"/><Relationship Id="rId27" Type="http://schemas.openxmlformats.org/officeDocument/2006/relationships/font" Target="fonts/font3.fntdata"/><Relationship Id="rId26" Type="http://schemas.openxmlformats.org/officeDocument/2006/relationships/font" Target="fonts/font2.fntdata"/><Relationship Id="rId25" Type="http://schemas.openxmlformats.org/officeDocument/2006/relationships/font" Target="fonts/font1.fntdata"/><Relationship Id="rId24" Type="http://schemas.openxmlformats.org/officeDocument/2006/relationships/tableStyles" Target="tableStyles.xml"/><Relationship Id="rId23" Type="http://schemas.openxmlformats.org/officeDocument/2006/relationships/viewProps" Target="viewProps.xml"/><Relationship Id="rId22" Type="http://schemas.openxmlformats.org/officeDocument/2006/relationships/presProps" Target="presProps.xml"/><Relationship Id="rId21" Type="http://schemas.openxmlformats.org/officeDocument/2006/relationships/slide" Target="slides/slide16.xml"/><Relationship Id="rId20" Type="http://schemas.openxmlformats.org/officeDocument/2006/relationships/slide" Target="slides/slide15.xml"/><Relationship Id="rId2" Type="http://schemas.openxmlformats.org/officeDocument/2006/relationships/theme" Target="theme/theme1.xml"/><Relationship Id="rId19" Type="http://schemas.openxmlformats.org/officeDocument/2006/relationships/slide" Target="slides/slide14.xml"/><Relationship Id="rId18" Type="http://schemas.openxmlformats.org/officeDocument/2006/relationships/slide" Target="slides/slide13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3.xml"/></Relationships>
</file>

<file path=ppt/slideLayouts/_rels/slideLayout16.xml.rels><?xml version="1.0" encoding="UTF-8" standalone="yes"?>
<Relationships xmlns="http://schemas.openxmlformats.org/package/2006/relationships"><Relationship Id="rId4" Type="http://schemas.openxmlformats.org/officeDocument/2006/relationships/image" Target="../media/image1.png"/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3.xml"/></Relationships>
</file>

<file path=ppt/slideLayouts/_rels/slideLayout17.xml.rels><?xml version="1.0" encoding="UTF-8" standalone="yes"?>
<Relationships xmlns="http://schemas.openxmlformats.org/package/2006/relationships"><Relationship Id="rId4" Type="http://schemas.openxmlformats.org/officeDocument/2006/relationships/image" Target="../media/image1.png"/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4" Type="http://schemas.openxmlformats.org/officeDocument/2006/relationships/image" Target="../media/image1.png"/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3E8F22A9-FB79-409E-A42D-9CA5C4030511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</a:fld>
            <a:endParaRPr lang="en-US"/>
          </a:p>
        </p:txBody>
      </p:sp>
    </p:spTree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02E406A1-0AC7-4BFE-9BEB-E140CD0957DA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</a:fld>
            <a:endParaRPr lang="en-US"/>
          </a:p>
        </p:txBody>
      </p:sp>
    </p:spTree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12017FE3-C26D-4283-AC08-574BC29B39CB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</a:fld>
            <a:endParaRPr lang="en-US"/>
          </a:p>
        </p:txBody>
      </p:sp>
    </p:spTree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8BEAED71-041E-4273-AA02-ED11BA14E8BA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</a:fld>
            <a:endParaRPr lang="en-US"/>
          </a:p>
        </p:txBody>
      </p:sp>
    </p:spTree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5"/>
          </p:nvPr>
        </p:nvSpPr>
        <p:spPr/>
        <p:txBody>
          <a:bodyPr/>
          <a:lstStyle/>
          <a:p>
            <a:fld id="{162B7C60-1CBB-4C83-832B-D5A755E89537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</a:fld>
            <a:endParaRPr lang="en-US"/>
          </a:p>
        </p:txBody>
      </p:sp>
    </p:spTree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5099ACDD-2444-45F8-B289-94FCD5ADB5D2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</a:fld>
            <a:endParaRPr lang="en-US"/>
          </a:p>
        </p:txBody>
      </p:sp>
    </p:spTree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A74E7D2D-099B-4454-A60B-87636467F769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</a:fld>
            <a:endParaRPr lang="en-US"/>
          </a:p>
        </p:txBody>
      </p:sp>
    </p:spTree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42F2EA15-3C66-48CB-8843-B71429F122C1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</a:fld>
            <a:endParaRPr lang="en-US"/>
          </a:p>
        </p:txBody>
      </p:sp>
    </p:spTree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42429FF3-07F5-4BFF-9364-82A0FDBDD13C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</a:fld>
            <a:endParaRPr lang="en-US"/>
          </a:p>
        </p:txBody>
      </p:sp>
    </p:spTree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25881E97-606D-4DDB-B6EB-F79F9BC03E85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</a:fld>
            <a:endParaRPr lang="en-US"/>
          </a:p>
        </p:txBody>
      </p:sp>
    </p:spTree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440680E7-278B-4F1D-AAE2-4762E5F463B6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</a:fld>
            <a:endParaRPr lang="en-US"/>
          </a:p>
        </p:txBody>
      </p:sp>
    </p:spTree>
  </p:cSld>
  <p:clrMapOvr>
    <a:masterClrMapping/>
  </p:clrMapOvr>
  <p:transition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C73E6"/>
          </a:solidFill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/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9FF"/>
          </a:solidFill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/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  <p:transition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C73E6"/>
          </a:solidFill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/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9FF"/>
          </a:solidFill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/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  <p:transition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C73E6"/>
          </a:solidFill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/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9FF"/>
          </a:solidFill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/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9FF">
              <a:alpha val="85000"/>
            </a:srgbClr>
          </a:solidFill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/>
        </p:txBody>
      </p:sp>
      <p:pic>
        <p:nvPicPr>
          <p:cNvPr id="6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  <p:transition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C73E6"/>
          </a:solidFill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/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9FF"/>
          </a:solidFill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/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9FF">
              <a:alpha val="85000"/>
            </a:srgbClr>
          </a:solidFill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/>
        </p:txBody>
      </p:sp>
      <p:pic>
        <p:nvPicPr>
          <p:cNvPr id="6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  <p:transition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C73E6"/>
          </a:solidFill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/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9FF"/>
          </a:solidFill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/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9FF">
              <a:alpha val="85000"/>
            </a:srgbClr>
          </a:solidFill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/>
        </p:txBody>
      </p:sp>
      <p:pic>
        <p:nvPicPr>
          <p:cNvPr id="6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/Relationships>
</file>

<file path=ppt/slideMasters/_rels/slideMaster3.xml.rels><?xml version="1.0" encoding="UTF-8" standalone="yes"?>
<Relationships xmlns="http://schemas.openxmlformats.org/package/2006/relationships"><Relationship Id="rId6" Type="http://schemas.openxmlformats.org/officeDocument/2006/relationships/theme" Target="../theme/theme3.xml"/><Relationship Id="rId5" Type="http://schemas.openxmlformats.org/officeDocument/2006/relationships/slideLayout" Target="../slideLayouts/slideLayout18.xml"/><Relationship Id="rId4" Type="http://schemas.openxmlformats.org/officeDocument/2006/relationships/slideLayout" Target="../slideLayouts/slideLayout17.xml"/><Relationship Id="rId3" Type="http://schemas.openxmlformats.org/officeDocument/2006/relationships/slideLayout" Target="../slideLayouts/slideLayout16.xml"/><Relationship Id="rId2" Type="http://schemas.openxmlformats.org/officeDocument/2006/relationships/slideLayout" Target="../slideLayouts/slideLayout15.xml"/><Relationship Id="rId1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0B7A-F5DD-4F40-B4CB-3B2C354B893A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E1883-0942-4AA3-9DB2-9C7C3A0314B1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8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8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8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8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8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8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8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8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8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</p:sldLayoutIdLst>
  <p:transition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8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8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8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8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8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8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8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8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8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6" r:id="rId3"/>
    <p:sldLayoutId id="2147483667" r:id="rId4"/>
    <p:sldLayoutId id="2147483668" r:id="rId5"/>
  </p:sldLayoutIdLst>
  <p:transition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8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8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8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8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8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8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8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8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8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3.xml"/><Relationship Id="rId1" Type="http://schemas.openxmlformats.org/officeDocument/2006/relationships/image" Target="../media/image5.jpeg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.xml"/><Relationship Id="rId3" Type="http://schemas.openxmlformats.org/officeDocument/2006/relationships/slideLayout" Target="../slideLayouts/slideLayout13.xml"/><Relationship Id="rId2" Type="http://schemas.openxmlformats.org/officeDocument/2006/relationships/image" Target="../media/image7.png"/><Relationship Id="rId1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3.xml"/><Relationship Id="rId1" Type="http://schemas.openxmlformats.org/officeDocument/2006/relationships/image" Target="../media/image8.jpe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5.xml"/><Relationship Id="rId5" Type="http://schemas.openxmlformats.org/officeDocument/2006/relationships/slideLayout" Target="../slideLayouts/slideLayout13.xml"/><Relationship Id="rId4" Type="http://schemas.openxmlformats.org/officeDocument/2006/relationships/image" Target="../media/image12.png"/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image" Target="../media/image9.jpe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13.xml"/><Relationship Id="rId1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13.xml"/><Relationship Id="rId1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13.xml"/><Relationship Id="rId1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15.xml"/><Relationship Id="rId1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15.xml"/><Relationship Id="rId1" Type="http://schemas.openxmlformats.org/officeDocument/2006/relationships/image" Target="../media/image17.jpe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4.xml"/><Relationship Id="rId1" Type="http://schemas.openxmlformats.org/officeDocument/2006/relationships/image" Target="../media/image18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233360" y="2030313"/>
            <a:ext cx="6296860" cy="1181298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04000"/>
              </a:lnSpc>
              <a:buNone/>
            </a:pPr>
            <a:r>
              <a:rPr lang="en-US" sz="3700">
                <a:solidFill>
                  <a:srgbClr val="1B1B27"/>
                </a:solidFill>
                <a:latin typeface="Alexandria" pitchFamily="34" charset="0"/>
                <a:ea typeface="Alexandria" pitchFamily="34" charset="-122"/>
                <a:cs typeface="Alexandria" pitchFamily="34" charset="-120"/>
              </a:rPr>
              <a:t>AI Security Red Team Assessment</a:t>
            </a:r>
            <a:endParaRPr lang="en-US" sz="3700"/>
          </a:p>
        </p:txBody>
      </p:sp>
      <p:sp>
        <p:nvSpPr>
          <p:cNvPr id="4" name="Text 1"/>
          <p:cNvSpPr/>
          <p:nvPr/>
        </p:nvSpPr>
        <p:spPr>
          <a:xfrm>
            <a:off x="5233360" y="3495080"/>
            <a:ext cx="6296860" cy="133250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33000"/>
              </a:lnSpc>
              <a:spcAft>
                <a:spcPts val="1650"/>
              </a:spcAft>
              <a:buNone/>
            </a:pPr>
            <a:r>
              <a:rPr lang="en-US" sz="1450">
                <a:solidFill>
                  <a:srgbClr val="404155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Subtitle: CIFAR-10 Classifier Security Analysis</a:t>
            </a:r>
            <a:endParaRPr lang="en-US" sz="1450"/>
          </a:p>
          <a:p>
            <a:pPr marL="0" indent="0" algn="l">
              <a:lnSpc>
                <a:spcPct val="133000"/>
              </a:lnSpc>
              <a:spcAft>
                <a:spcPts val="1650"/>
              </a:spcAft>
              <a:buNone/>
            </a:pPr>
            <a:r>
              <a:rPr lang="en-US" sz="1450">
                <a:solidFill>
                  <a:srgbClr val="404155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Presented by: TEWDROS TILAHUN </a:t>
            </a:r>
            <a:endParaRPr lang="en-US" sz="145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450">
                <a:solidFill>
                  <a:srgbClr val="404155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September 2026</a:t>
            </a:r>
            <a:endParaRPr lang="en-US" sz="1450"/>
          </a:p>
        </p:txBody>
      </p:sp>
    </p:spTree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344017"/>
            <a:ext cx="10868745" cy="472480"/>
          </a:xfrm>
          <a:prstGeom prst="rect">
            <a:avLst/>
          </a:prstGeom>
          <a:noFill/>
        </p:spPr>
        <p:txBody>
          <a:bodyPr wrap="non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04000"/>
              </a:lnSpc>
              <a:buNone/>
            </a:pPr>
            <a:r>
              <a:rPr lang="en-US" sz="2950">
                <a:solidFill>
                  <a:srgbClr val="1B1B27"/>
                </a:solidFill>
                <a:latin typeface="Alexandria" pitchFamily="34" charset="0"/>
                <a:ea typeface="Alexandria" pitchFamily="34" charset="-122"/>
                <a:cs typeface="Alexandria" pitchFamily="34" charset="-120"/>
              </a:rPr>
              <a:t>Why AI Red Teaming Matters</a:t>
            </a:r>
            <a:endParaRPr lang="en-US" sz="295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1475" y="2194520"/>
            <a:ext cx="567021" cy="56703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61475" y="2997795"/>
            <a:ext cx="5316206" cy="295275"/>
          </a:xfrm>
          <a:prstGeom prst="rect">
            <a:avLst/>
          </a:prstGeom>
          <a:noFill/>
        </p:spPr>
        <p:txBody>
          <a:bodyPr wrap="non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04000"/>
              </a:lnSpc>
              <a:buNone/>
            </a:pPr>
            <a:r>
              <a:rPr lang="en-US" sz="1850">
                <a:solidFill>
                  <a:srgbClr val="404155"/>
                </a:solidFill>
                <a:latin typeface="Alexandria" pitchFamily="34" charset="0"/>
                <a:ea typeface="Alexandria" pitchFamily="34" charset="-122"/>
                <a:cs typeface="Alexandria" pitchFamily="34" charset="-120"/>
              </a:rPr>
              <a:t>AI Security Gap</a:t>
            </a:r>
            <a:endParaRPr lang="en-US" sz="1850"/>
          </a:p>
        </p:txBody>
      </p:sp>
      <p:sp>
        <p:nvSpPr>
          <p:cNvPr id="5" name="Text 2"/>
          <p:cNvSpPr/>
          <p:nvPr/>
        </p:nvSpPr>
        <p:spPr>
          <a:xfrm>
            <a:off x="661475" y="3406477"/>
            <a:ext cx="5316206" cy="1020663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33000"/>
              </a:lnSpc>
              <a:spcAft>
                <a:spcPts val="850"/>
              </a:spcAft>
              <a:buNone/>
            </a:pPr>
            <a:r>
              <a:rPr lang="en-US" sz="1450">
                <a:solidFill>
                  <a:srgbClr val="404155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Traditional cybersecurity focuses on networks and credentials</a:t>
            </a:r>
            <a:endParaRPr lang="en-US" sz="145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450">
                <a:solidFill>
                  <a:srgbClr val="404155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AI introduces novel attack surfaces</a:t>
            </a:r>
            <a:endParaRPr lang="en-US" sz="1450"/>
          </a:p>
        </p:txBody>
      </p:sp>
      <p:sp>
        <p:nvSpPr>
          <p:cNvPr id="6" name="Text 3"/>
          <p:cNvSpPr/>
          <p:nvPr/>
        </p:nvSpPr>
        <p:spPr>
          <a:xfrm>
            <a:off x="661475" y="4540548"/>
            <a:ext cx="5316206" cy="973336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94640" indent="-294640" algn="l">
              <a:lnSpc>
                <a:spcPct val="133000"/>
              </a:lnSpc>
              <a:buSzTx/>
              <a:buChar char="•"/>
            </a:pPr>
            <a:r>
              <a:rPr lang="en-US" sz="1450">
                <a:solidFill>
                  <a:srgbClr val="404155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model manipulation</a:t>
            </a:r>
            <a:endParaRPr lang="en-US" sz="1450"/>
          </a:p>
          <a:p>
            <a:pPr marL="294640" indent="-294640" algn="l">
              <a:lnSpc>
                <a:spcPct val="133000"/>
              </a:lnSpc>
              <a:buSzTx/>
              <a:buChar char="•"/>
            </a:pPr>
            <a:r>
              <a:rPr lang="en-US" sz="1450">
                <a:solidFill>
                  <a:srgbClr val="404155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adversarial inputs, and behavioral exploitation that bypass conventional controls.</a:t>
            </a:r>
            <a:endParaRPr lang="en-US" sz="145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3915" y="2194520"/>
            <a:ext cx="567021" cy="567035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213915" y="2997795"/>
            <a:ext cx="5316305" cy="295275"/>
          </a:xfrm>
          <a:prstGeom prst="rect">
            <a:avLst/>
          </a:prstGeom>
          <a:noFill/>
        </p:spPr>
        <p:txBody>
          <a:bodyPr wrap="non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04000"/>
              </a:lnSpc>
              <a:buNone/>
            </a:pPr>
            <a:r>
              <a:rPr lang="en-US" sz="1850">
                <a:solidFill>
                  <a:srgbClr val="404155"/>
                </a:solidFill>
                <a:latin typeface="Alexandria" pitchFamily="34" charset="0"/>
                <a:ea typeface="Alexandria" pitchFamily="34" charset="-122"/>
                <a:cs typeface="Alexandria" pitchFamily="34" charset="-120"/>
              </a:rPr>
              <a:t>Real-World Stakes</a:t>
            </a:r>
            <a:endParaRPr lang="en-US" sz="1850"/>
          </a:p>
        </p:txBody>
      </p:sp>
      <p:sp>
        <p:nvSpPr>
          <p:cNvPr id="9" name="Text 5"/>
          <p:cNvSpPr/>
          <p:nvPr/>
        </p:nvSpPr>
        <p:spPr>
          <a:xfrm>
            <a:off x="6213915" y="3406477"/>
            <a:ext cx="5316305" cy="1946672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94640" indent="-294640" algn="l">
              <a:lnSpc>
                <a:spcPct val="133000"/>
              </a:lnSpc>
              <a:buSzTx/>
              <a:buChar char="•"/>
            </a:pPr>
            <a:r>
              <a:rPr lang="en-US" sz="1450">
                <a:solidFill>
                  <a:srgbClr val="404155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Autonomous vehicles: Misclassified stop signs → accidents </a:t>
            </a:r>
            <a:endParaRPr lang="en-US" sz="1450"/>
          </a:p>
          <a:p>
            <a:pPr marL="294640" indent="-294640" algn="l">
              <a:lnSpc>
                <a:spcPct val="133000"/>
              </a:lnSpc>
              <a:buSzTx/>
              <a:buChar char="•"/>
            </a:pPr>
            <a:r>
              <a:rPr lang="en-US" sz="1450">
                <a:solidFill>
                  <a:srgbClr val="404155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 Financial fraud: Manipulated credit scoring → fraudulent approvals </a:t>
            </a:r>
            <a:endParaRPr lang="en-US" sz="1450"/>
          </a:p>
          <a:p>
            <a:pPr marL="294640" indent="-294640" algn="l">
              <a:lnSpc>
                <a:spcPct val="133000"/>
              </a:lnSpc>
              <a:buSzTx/>
              <a:buChar char="•"/>
            </a:pPr>
            <a:r>
              <a:rPr lang="en-US" sz="1450">
                <a:solidFill>
                  <a:srgbClr val="404155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 Medical imaging: Adversarial scans → wrong diagnoses</a:t>
            </a:r>
            <a:endParaRPr lang="en-US" sz="1450"/>
          </a:p>
        </p:txBody>
      </p:sp>
    </p:spTree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233360" y="524470"/>
            <a:ext cx="6296860" cy="457696"/>
          </a:xfrm>
          <a:prstGeom prst="rect">
            <a:avLst/>
          </a:prstGeom>
          <a:noFill/>
        </p:spPr>
        <p:txBody>
          <a:bodyPr wrap="non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04000"/>
              </a:lnSpc>
              <a:buNone/>
            </a:pPr>
            <a:r>
              <a:rPr lang="en-US" sz="2850">
                <a:solidFill>
                  <a:srgbClr val="1B1B27"/>
                </a:solidFill>
                <a:latin typeface="Alexandria" pitchFamily="34" charset="0"/>
                <a:ea typeface="Alexandria" pitchFamily="34" charset="-122"/>
                <a:cs typeface="Alexandria" pitchFamily="34" charset="-120"/>
              </a:rPr>
              <a:t>What Is AI Red Teaming?</a:t>
            </a:r>
            <a:endParaRPr lang="en-US" sz="2850"/>
          </a:p>
        </p:txBody>
      </p:sp>
      <p:sp>
        <p:nvSpPr>
          <p:cNvPr id="4" name="Text 1"/>
          <p:cNvSpPr/>
          <p:nvPr/>
        </p:nvSpPr>
        <p:spPr>
          <a:xfrm>
            <a:off x="5233360" y="1248172"/>
            <a:ext cx="6906444" cy="288429"/>
          </a:xfrm>
          <a:prstGeom prst="rect">
            <a:avLst/>
          </a:prstGeom>
          <a:noFill/>
        </p:spPr>
        <p:txBody>
          <a:bodyPr wrap="non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31000"/>
              </a:lnSpc>
              <a:buNone/>
            </a:pPr>
            <a:r>
              <a:rPr lang="en-US" sz="1600">
                <a:solidFill>
                  <a:srgbClr val="404155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Proactive adversarial testing that simulates real attackers to find</a:t>
            </a:r>
            <a:endParaRPr lang="en-US" sz="1600">
              <a:solidFill>
                <a:srgbClr val="404155"/>
              </a:solidFill>
              <a:latin typeface="Nobile" pitchFamily="34" charset="0"/>
              <a:ea typeface="Nobile" pitchFamily="34" charset="-122"/>
              <a:cs typeface="Nobile" pitchFamily="34" charset="-120"/>
            </a:endParaRPr>
          </a:p>
          <a:p>
            <a:pPr marL="0" indent="0" algn="l">
              <a:lnSpc>
                <a:spcPct val="131000"/>
              </a:lnSpc>
              <a:buNone/>
            </a:pPr>
            <a:r>
              <a:rPr lang="en-US" sz="160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sym typeface="+mn-ea"/>
              </a:rPr>
              <a:t>vulnerabilities before attackers do</a:t>
            </a:r>
            <a:endParaRPr lang="en-US" sz="1400"/>
          </a:p>
          <a:p>
            <a:pPr marL="0" indent="0" algn="l">
              <a:lnSpc>
                <a:spcPct val="131000"/>
              </a:lnSpc>
              <a:buNone/>
            </a:pPr>
            <a:endParaRPr lang="en-US" sz="1400"/>
          </a:p>
        </p:txBody>
      </p:sp>
      <p:sp>
        <p:nvSpPr>
          <p:cNvPr id="6" name="Text 3"/>
          <p:cNvSpPr/>
          <p:nvPr/>
        </p:nvSpPr>
        <p:spPr>
          <a:xfrm>
            <a:off x="5453025" y="1919188"/>
            <a:ext cx="6467115" cy="292993"/>
          </a:xfrm>
          <a:prstGeom prst="rect">
            <a:avLst/>
          </a:prstGeom>
          <a:noFill/>
        </p:spPr>
        <p:txBody>
          <a:bodyPr wrap="non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33000"/>
              </a:lnSpc>
              <a:buNone/>
            </a:pPr>
            <a:endParaRPr lang="en-US" sz="1400"/>
          </a:p>
        </p:txBody>
      </p:sp>
      <p:sp>
        <p:nvSpPr>
          <p:cNvPr id="7" name="Shape 4"/>
          <p:cNvSpPr/>
          <p:nvPr/>
        </p:nvSpPr>
        <p:spPr>
          <a:xfrm>
            <a:off x="5233360" y="2594769"/>
            <a:ext cx="3059730" cy="2213372"/>
          </a:xfrm>
          <a:prstGeom prst="roundRect">
            <a:avLst>
              <a:gd name="adj" fmla="val 3475"/>
            </a:avLst>
          </a:prstGeom>
          <a:solidFill>
            <a:srgbClr val="D2DDF9"/>
          </a:solidFill>
          <a:ln w="6350">
            <a:solidFill>
              <a:srgbClr val="B8C3DF"/>
            </a:solidFill>
            <a:prstDash val="solid"/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/>
        </p:txBody>
      </p:sp>
      <p:sp>
        <p:nvSpPr>
          <p:cNvPr id="8" name="Text 5"/>
          <p:cNvSpPr/>
          <p:nvPr/>
        </p:nvSpPr>
        <p:spPr>
          <a:xfrm>
            <a:off x="5422764" y="2784177"/>
            <a:ext cx="2680923" cy="286048"/>
          </a:xfrm>
          <a:prstGeom prst="rect">
            <a:avLst/>
          </a:prstGeom>
          <a:noFill/>
        </p:spPr>
        <p:txBody>
          <a:bodyPr wrap="non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04000"/>
              </a:lnSpc>
              <a:buNone/>
            </a:pPr>
            <a:r>
              <a:rPr lang="en-US" sz="1800">
                <a:solidFill>
                  <a:srgbClr val="404155"/>
                </a:solidFill>
                <a:latin typeface="Alexandria" pitchFamily="34" charset="0"/>
                <a:ea typeface="Alexandria" pitchFamily="34" charset="-122"/>
                <a:cs typeface="Alexandria" pitchFamily="34" charset="-120"/>
              </a:rPr>
              <a:t>Model Robustness</a:t>
            </a:r>
            <a:endParaRPr lang="en-US" sz="1800"/>
          </a:p>
        </p:txBody>
      </p:sp>
      <p:sp>
        <p:nvSpPr>
          <p:cNvPr id="9" name="Text 6"/>
          <p:cNvSpPr/>
          <p:nvPr/>
        </p:nvSpPr>
        <p:spPr>
          <a:xfrm>
            <a:off x="5422764" y="3176587"/>
            <a:ext cx="2680923" cy="1153716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31000"/>
              </a:lnSpc>
              <a:buNone/>
            </a:pPr>
            <a:r>
              <a:rPr lang="en-US" sz="1400">
                <a:solidFill>
                  <a:srgbClr val="404155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Assess if adversarial inputs can reliably change model outputs under realistic constraints.</a:t>
            </a:r>
            <a:endParaRPr lang="en-US" sz="1400"/>
          </a:p>
        </p:txBody>
      </p:sp>
      <p:sp>
        <p:nvSpPr>
          <p:cNvPr id="10" name="Shape 7"/>
          <p:cNvSpPr/>
          <p:nvPr/>
        </p:nvSpPr>
        <p:spPr>
          <a:xfrm>
            <a:off x="8470390" y="2594769"/>
            <a:ext cx="3059830" cy="2213372"/>
          </a:xfrm>
          <a:prstGeom prst="roundRect">
            <a:avLst>
              <a:gd name="adj" fmla="val 3475"/>
            </a:avLst>
          </a:prstGeom>
          <a:solidFill>
            <a:srgbClr val="D2DDF9"/>
          </a:solidFill>
          <a:ln w="6350">
            <a:solidFill>
              <a:srgbClr val="B8C3DF"/>
            </a:solidFill>
            <a:prstDash val="solid"/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/>
        </p:txBody>
      </p:sp>
      <p:sp>
        <p:nvSpPr>
          <p:cNvPr id="11" name="Text 8"/>
          <p:cNvSpPr/>
          <p:nvPr/>
        </p:nvSpPr>
        <p:spPr>
          <a:xfrm>
            <a:off x="8659794" y="2784177"/>
            <a:ext cx="2681022" cy="286048"/>
          </a:xfrm>
          <a:prstGeom prst="rect">
            <a:avLst/>
          </a:prstGeom>
          <a:noFill/>
        </p:spPr>
        <p:txBody>
          <a:bodyPr wrap="non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04000"/>
              </a:lnSpc>
              <a:buNone/>
            </a:pPr>
            <a:r>
              <a:rPr lang="en-US" sz="1800">
                <a:solidFill>
                  <a:srgbClr val="404155"/>
                </a:solidFill>
                <a:latin typeface="Alexandria" pitchFamily="34" charset="0"/>
                <a:ea typeface="Alexandria" pitchFamily="34" charset="-122"/>
                <a:cs typeface="Alexandria" pitchFamily="34" charset="-120"/>
              </a:rPr>
              <a:t>Pipeline Security</a:t>
            </a:r>
            <a:endParaRPr lang="en-US" sz="1800"/>
          </a:p>
        </p:txBody>
      </p:sp>
      <p:sp>
        <p:nvSpPr>
          <p:cNvPr id="12" name="Text 9"/>
          <p:cNvSpPr/>
          <p:nvPr/>
        </p:nvSpPr>
        <p:spPr>
          <a:xfrm>
            <a:off x="8659794" y="3176587"/>
            <a:ext cx="2681022" cy="1442145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31000"/>
              </a:lnSpc>
              <a:buNone/>
            </a:pPr>
            <a:r>
              <a:rPr lang="en-US" sz="1400">
                <a:solidFill>
                  <a:srgbClr val="404155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Test containerization, API endpoints, authentication, and logging for exposure paths and attack amplification.</a:t>
            </a:r>
            <a:endParaRPr lang="en-US" sz="1400"/>
          </a:p>
        </p:txBody>
      </p:sp>
      <p:sp>
        <p:nvSpPr>
          <p:cNvPr id="13" name="Shape 10"/>
          <p:cNvSpPr/>
          <p:nvPr/>
        </p:nvSpPr>
        <p:spPr>
          <a:xfrm>
            <a:off x="5233360" y="4985445"/>
            <a:ext cx="6296860" cy="1348085"/>
          </a:xfrm>
          <a:prstGeom prst="roundRect">
            <a:avLst>
              <a:gd name="adj" fmla="val 5705"/>
            </a:avLst>
          </a:prstGeom>
          <a:solidFill>
            <a:srgbClr val="D2DDF9"/>
          </a:solidFill>
          <a:ln w="6350">
            <a:solidFill>
              <a:srgbClr val="B8C3DF"/>
            </a:solidFill>
            <a:prstDash val="solid"/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/>
        </p:txBody>
      </p:sp>
      <p:sp>
        <p:nvSpPr>
          <p:cNvPr id="14" name="Text 11"/>
          <p:cNvSpPr/>
          <p:nvPr/>
        </p:nvSpPr>
        <p:spPr>
          <a:xfrm>
            <a:off x="5422764" y="5174853"/>
            <a:ext cx="5918052" cy="286048"/>
          </a:xfrm>
          <a:prstGeom prst="rect">
            <a:avLst/>
          </a:prstGeom>
          <a:noFill/>
        </p:spPr>
        <p:txBody>
          <a:bodyPr wrap="non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04000"/>
              </a:lnSpc>
              <a:buNone/>
            </a:pPr>
            <a:r>
              <a:rPr lang="en-US" sz="1800">
                <a:solidFill>
                  <a:srgbClr val="404155"/>
                </a:solidFill>
                <a:latin typeface="Alexandria" pitchFamily="34" charset="0"/>
                <a:ea typeface="Alexandria" pitchFamily="34" charset="-122"/>
                <a:cs typeface="Alexandria" pitchFamily="34" charset="-120"/>
              </a:rPr>
              <a:t>Data Protection</a:t>
            </a:r>
            <a:endParaRPr lang="en-US" sz="1800"/>
          </a:p>
        </p:txBody>
      </p:sp>
      <p:sp>
        <p:nvSpPr>
          <p:cNvPr id="15" name="Text 12"/>
          <p:cNvSpPr/>
          <p:nvPr/>
        </p:nvSpPr>
        <p:spPr>
          <a:xfrm>
            <a:off x="5422764" y="5567263"/>
            <a:ext cx="5918052" cy="576858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31000"/>
              </a:lnSpc>
              <a:buNone/>
            </a:pPr>
            <a:r>
              <a:rPr lang="en-US" sz="1400">
                <a:solidFill>
                  <a:srgbClr val="404155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Evaluate risks of model extraction, data leakage, and theft of training artifacts or IP.</a:t>
            </a:r>
            <a:endParaRPr lang="en-US" sz="1400"/>
          </a:p>
        </p:txBody>
      </p:sp>
    </p:spTree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168102"/>
            <a:ext cx="10868745" cy="472480"/>
          </a:xfrm>
          <a:prstGeom prst="rect">
            <a:avLst/>
          </a:prstGeom>
          <a:noFill/>
        </p:spPr>
        <p:txBody>
          <a:bodyPr wrap="non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04000"/>
              </a:lnSpc>
              <a:buNone/>
            </a:pPr>
            <a:r>
              <a:rPr lang="en-US" sz="2950">
                <a:solidFill>
                  <a:srgbClr val="1B1B27"/>
                </a:solidFill>
                <a:latin typeface="Alexandria" pitchFamily="34" charset="0"/>
                <a:ea typeface="Alexandria" pitchFamily="34" charset="-122"/>
                <a:cs typeface="Alexandria" pitchFamily="34" charset="-120"/>
              </a:rPr>
              <a:t>Assessment Scope</a:t>
            </a:r>
            <a:endParaRPr lang="en-US" sz="2950"/>
          </a:p>
        </p:txBody>
      </p:sp>
      <p:sp>
        <p:nvSpPr>
          <p:cNvPr id="3" name="Text 1"/>
          <p:cNvSpPr/>
          <p:nvPr/>
        </p:nvSpPr>
        <p:spPr>
          <a:xfrm>
            <a:off x="661475" y="2113062"/>
            <a:ext cx="5203794" cy="295275"/>
          </a:xfrm>
          <a:prstGeom prst="rect">
            <a:avLst/>
          </a:prstGeom>
          <a:noFill/>
        </p:spPr>
        <p:txBody>
          <a:bodyPr wrap="non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04000"/>
              </a:lnSpc>
              <a:buNone/>
            </a:pPr>
            <a:r>
              <a:rPr lang="en-US" sz="1850">
                <a:solidFill>
                  <a:srgbClr val="1B1B27"/>
                </a:solidFill>
                <a:latin typeface="Alexandria" pitchFamily="34" charset="0"/>
                <a:ea typeface="Alexandria" pitchFamily="34" charset="-122"/>
                <a:cs typeface="Alexandria" pitchFamily="34" charset="-120"/>
              </a:rPr>
              <a:t>Target System</a:t>
            </a:r>
            <a:endParaRPr lang="en-US" sz="1850"/>
          </a:p>
        </p:txBody>
      </p:sp>
      <p:sp>
        <p:nvSpPr>
          <p:cNvPr id="4" name="Text 2"/>
          <p:cNvSpPr/>
          <p:nvPr/>
        </p:nvSpPr>
        <p:spPr>
          <a:xfrm>
            <a:off x="661475" y="2597348"/>
            <a:ext cx="5203794" cy="1341834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94640" indent="-294640" algn="l">
              <a:lnSpc>
                <a:spcPct val="133000"/>
              </a:lnSpc>
              <a:buSzTx/>
              <a:buChar char="•"/>
            </a:pPr>
            <a:r>
              <a:rPr lang="en-US" sz="1450">
                <a:solidFill>
                  <a:srgbClr val="404155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PyTorch CNN classifier trained on CIFAR-10 (10 categories)</a:t>
            </a:r>
            <a:endParaRPr lang="en-US" sz="1450"/>
          </a:p>
          <a:p>
            <a:pPr marL="294640" indent="-294640" algn="l">
              <a:lnSpc>
                <a:spcPct val="133000"/>
              </a:lnSpc>
              <a:buSzTx/>
              <a:buChar char="•"/>
            </a:pPr>
            <a:r>
              <a:rPr lang="en-US" sz="1450">
                <a:solidFill>
                  <a:srgbClr val="404155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Local training &amp; deployment via Docker + FastAPI</a:t>
            </a:r>
            <a:endParaRPr lang="en-US" sz="1450"/>
          </a:p>
          <a:p>
            <a:pPr marL="294640" indent="-294640" algn="l">
              <a:lnSpc>
                <a:spcPct val="133000"/>
              </a:lnSpc>
              <a:buSzTx/>
              <a:buChar char="•"/>
            </a:pPr>
            <a:r>
              <a:rPr lang="en-US" sz="1450">
                <a:solidFill>
                  <a:srgbClr val="404155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Baseline clean-image accuracy: 80.25%</a:t>
            </a:r>
            <a:endParaRPr lang="en-US" sz="1450"/>
          </a:p>
        </p:txBody>
      </p:sp>
      <p:sp>
        <p:nvSpPr>
          <p:cNvPr id="5" name="Text 3"/>
          <p:cNvSpPr/>
          <p:nvPr/>
        </p:nvSpPr>
        <p:spPr>
          <a:xfrm>
            <a:off x="661475" y="4128195"/>
            <a:ext cx="5203794" cy="295275"/>
          </a:xfrm>
          <a:prstGeom prst="rect">
            <a:avLst/>
          </a:prstGeom>
          <a:noFill/>
        </p:spPr>
        <p:txBody>
          <a:bodyPr wrap="non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04000"/>
              </a:lnSpc>
              <a:buNone/>
            </a:pPr>
            <a:r>
              <a:rPr lang="en-US" sz="1850">
                <a:solidFill>
                  <a:srgbClr val="1B1B27"/>
                </a:solidFill>
                <a:latin typeface="Alexandria" pitchFamily="34" charset="0"/>
                <a:ea typeface="Alexandria" pitchFamily="34" charset="-122"/>
                <a:cs typeface="Alexandria" pitchFamily="34" charset="-120"/>
              </a:rPr>
              <a:t>Methodology</a:t>
            </a:r>
            <a:endParaRPr lang="en-US" sz="1850"/>
          </a:p>
        </p:txBody>
      </p:sp>
      <p:sp>
        <p:nvSpPr>
          <p:cNvPr id="6" name="Text 4"/>
          <p:cNvSpPr/>
          <p:nvPr/>
        </p:nvSpPr>
        <p:spPr>
          <a:xfrm>
            <a:off x="661475" y="4612481"/>
            <a:ext cx="5203794" cy="907256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33000"/>
              </a:lnSpc>
              <a:buNone/>
            </a:pPr>
            <a:r>
              <a:rPr lang="en-US" sz="1450">
                <a:solidFill>
                  <a:srgbClr val="404155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MITRE ATLAS taxonomy + NIST adversarial ML guidance; testing performed in a controlled, ethical local environment.</a:t>
            </a:r>
            <a:endParaRPr lang="en-US" sz="1450"/>
          </a:p>
        </p:txBody>
      </p:sp>
      <p:sp>
        <p:nvSpPr>
          <p:cNvPr id="7" name="Text 5"/>
          <p:cNvSpPr/>
          <p:nvPr/>
        </p:nvSpPr>
        <p:spPr>
          <a:xfrm>
            <a:off x="6332776" y="2113062"/>
            <a:ext cx="5203794" cy="295275"/>
          </a:xfrm>
          <a:prstGeom prst="rect">
            <a:avLst/>
          </a:prstGeom>
          <a:noFill/>
        </p:spPr>
        <p:txBody>
          <a:bodyPr wrap="non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04000"/>
              </a:lnSpc>
              <a:buNone/>
            </a:pPr>
            <a:r>
              <a:rPr lang="en-US" sz="1850">
                <a:solidFill>
                  <a:srgbClr val="1B1B27"/>
                </a:solidFill>
                <a:latin typeface="Alexandria" pitchFamily="34" charset="0"/>
                <a:ea typeface="Alexandria" pitchFamily="34" charset="-122"/>
                <a:cs typeface="Alexandria" pitchFamily="34" charset="-120"/>
              </a:rPr>
              <a:t>Attack Vectors Tested</a:t>
            </a:r>
            <a:endParaRPr lang="en-US" sz="1850"/>
          </a:p>
        </p:txBody>
      </p:sp>
      <p:sp>
        <p:nvSpPr>
          <p:cNvPr id="8" name="Text 6"/>
          <p:cNvSpPr/>
          <p:nvPr/>
        </p:nvSpPr>
        <p:spPr>
          <a:xfrm>
            <a:off x="6332776" y="2597348"/>
            <a:ext cx="5203794" cy="1407914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94640" indent="-294640" algn="l">
              <a:lnSpc>
                <a:spcPct val="133000"/>
              </a:lnSpc>
              <a:buSzTx/>
              <a:buFont typeface="+mj-lt"/>
              <a:buAutoNum type="arabicPeriod"/>
            </a:pPr>
            <a:r>
              <a:rPr lang="en-US" sz="1450">
                <a:solidFill>
                  <a:srgbClr val="404155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White-box adversarial examples (FGSM, PGD)</a:t>
            </a:r>
            <a:endParaRPr lang="en-US" sz="1450"/>
          </a:p>
          <a:p>
            <a:pPr marL="294640" indent="-294640" algn="l">
              <a:lnSpc>
                <a:spcPct val="133000"/>
              </a:lnSpc>
              <a:buSzTx/>
              <a:buFont typeface="+mj-lt"/>
              <a:buAutoNum type="arabicPeriod" startAt="2"/>
            </a:pPr>
            <a:r>
              <a:rPr lang="en-US" sz="1450">
                <a:solidFill>
                  <a:srgbClr val="404155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Black-box query attacks (Square Attack)</a:t>
            </a:r>
            <a:endParaRPr lang="en-US" sz="1450"/>
          </a:p>
          <a:p>
            <a:pPr marL="294640" indent="-294640" algn="l">
              <a:lnSpc>
                <a:spcPct val="133000"/>
              </a:lnSpc>
              <a:buSzTx/>
              <a:buFont typeface="+mj-lt"/>
              <a:buAutoNum type="arabicPeriod" startAt="3"/>
            </a:pPr>
            <a:r>
              <a:rPr lang="en-US" sz="1450">
                <a:solidFill>
                  <a:srgbClr val="404155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Model extraction &amp; transfer attacks</a:t>
            </a:r>
            <a:endParaRPr lang="en-US" sz="1450"/>
          </a:p>
          <a:p>
            <a:pPr marL="294640" indent="-294640" algn="l">
              <a:lnSpc>
                <a:spcPct val="133000"/>
              </a:lnSpc>
              <a:buSzTx/>
              <a:buFont typeface="+mj-lt"/>
              <a:buAutoNum type="arabicPeriod" startAt="4"/>
            </a:pPr>
            <a:r>
              <a:rPr lang="en-US" sz="1450">
                <a:solidFill>
                  <a:srgbClr val="404155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Infrastructure &amp; API security review</a:t>
            </a:r>
            <a:endParaRPr lang="en-US" sz="1450"/>
          </a:p>
        </p:txBody>
      </p:sp>
    </p:spTree>
  </p:cSld>
  <p:clrMapOvr>
    <a:masterClrMapping/>
  </p:clrMapOvr>
  <p:transition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047924" cy="6858000"/>
          </a:xfrm>
          <a:prstGeom prst="rect">
            <a:avLst/>
          </a:prstGeom>
        </p:spPr>
      </p:pic>
      <p:pic>
        <p:nvPicPr>
          <p:cNvPr id="3" name="Image 1" descr="/home/teddy/code/project101/task-01/evidence/adversarial/pgd/eps_4-255/0006_eps4-255_true1_clean1_adv5.png0006_eps4-255_true1_clean1_adv5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91034" y="2648387"/>
            <a:ext cx="2864485" cy="168304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3709399" y="571302"/>
            <a:ext cx="7820822" cy="443012"/>
          </a:xfrm>
          <a:prstGeom prst="rect">
            <a:avLst/>
          </a:prstGeom>
          <a:noFill/>
        </p:spPr>
        <p:txBody>
          <a:bodyPr wrap="non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04000"/>
              </a:lnSpc>
              <a:buNone/>
            </a:pPr>
            <a:r>
              <a:rPr lang="en-US" sz="2750">
                <a:solidFill>
                  <a:srgbClr val="1B1B27"/>
                </a:solidFill>
                <a:latin typeface="Alexandria" pitchFamily="34" charset="0"/>
                <a:ea typeface="Alexandria" pitchFamily="34" charset="-122"/>
                <a:cs typeface="Alexandria" pitchFamily="34" charset="-120"/>
              </a:rPr>
              <a:t>Understanding Adversarial Examples</a:t>
            </a:r>
            <a:endParaRPr lang="en-US" sz="2750"/>
          </a:p>
        </p:txBody>
      </p:sp>
      <p:sp>
        <p:nvSpPr>
          <p:cNvPr id="5" name="Text 1"/>
          <p:cNvSpPr/>
          <p:nvPr/>
        </p:nvSpPr>
        <p:spPr>
          <a:xfrm>
            <a:off x="3709399" y="1263452"/>
            <a:ext cx="7820822" cy="823913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29000"/>
              </a:lnSpc>
              <a:buNone/>
            </a:pPr>
            <a:r>
              <a:rPr lang="en-US" sz="1350">
                <a:solidFill>
                  <a:srgbClr val="404155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Adversarial examples are inputs that appear unchanged to humans but exploit model decision boundaries to produce incorrect outputs. Perturbations are typically tiny (e.g., ≤ epsilon = 8/255).</a:t>
            </a:r>
            <a:endParaRPr lang="en-US" sz="1350"/>
          </a:p>
        </p:txBody>
      </p:sp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9399" y="2274193"/>
            <a:ext cx="7820822" cy="1318320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3981846" y="2846983"/>
            <a:ext cx="7352124" cy="549275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29000"/>
              </a:lnSpc>
              <a:buNone/>
            </a:pPr>
            <a:r>
              <a:rPr lang="en-US" sz="1350">
                <a:solidFill>
                  <a:srgbClr val="404155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Models optimize for average-case accuracy on clean data and remain sensitive to high-dimensional perturbations.</a:t>
            </a:r>
            <a:endParaRPr lang="en-US" sz="1350"/>
          </a:p>
        </p:txBody>
      </p:sp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9399" y="3758605"/>
            <a:ext cx="7820822" cy="1318320"/>
          </a:xfrm>
          <a:prstGeom prst="rect">
            <a:avLst/>
          </a:prstGeom>
        </p:spPr>
      </p:pic>
      <p:sp>
        <p:nvSpPr>
          <p:cNvPr id="9" name="Text 3"/>
          <p:cNvSpPr/>
          <p:nvPr/>
        </p:nvSpPr>
        <p:spPr>
          <a:xfrm>
            <a:off x="3981846" y="4331395"/>
            <a:ext cx="7352124" cy="549275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29000"/>
              </a:lnSpc>
              <a:buNone/>
            </a:pPr>
            <a:r>
              <a:rPr lang="en-US" sz="1350">
                <a:solidFill>
                  <a:srgbClr val="404155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Small pixel shifts (&lt;3%) can reduce accuracy drastically; robust models should retain &gt;40% at ε=8/255.</a:t>
            </a:r>
            <a:endParaRPr lang="en-US" sz="1350"/>
          </a:p>
        </p:txBody>
      </p:sp>
      <p:pic>
        <p:nvPicPr>
          <p:cNvPr id="10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9399" y="5243016"/>
            <a:ext cx="7820822" cy="1043682"/>
          </a:xfrm>
          <a:prstGeom prst="rect">
            <a:avLst/>
          </a:prstGeom>
        </p:spPr>
      </p:pic>
      <p:sp>
        <p:nvSpPr>
          <p:cNvPr id="11" name="Text 4"/>
          <p:cNvSpPr/>
          <p:nvPr/>
        </p:nvSpPr>
        <p:spPr>
          <a:xfrm>
            <a:off x="3981846" y="5815806"/>
            <a:ext cx="7352124" cy="274638"/>
          </a:xfrm>
          <a:prstGeom prst="rect">
            <a:avLst/>
          </a:prstGeom>
          <a:noFill/>
        </p:spPr>
        <p:txBody>
          <a:bodyPr wrap="non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29000"/>
              </a:lnSpc>
              <a:buNone/>
            </a:pPr>
            <a:r>
              <a:rPr lang="en-US" sz="1350">
                <a:solidFill>
                  <a:srgbClr val="404155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High-dimensional spaces have many "shortcuts" models exploit</a:t>
            </a:r>
            <a:endParaRPr lang="en-US" sz="1350"/>
          </a:p>
        </p:txBody>
      </p:sp>
    </p:spTree>
  </p:cSld>
  <p:clrMapOvr>
    <a:masterClrMapping/>
  </p:clrMapOvr>
  <p:transition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353542"/>
            <a:ext cx="10868745" cy="472480"/>
          </a:xfrm>
          <a:prstGeom prst="rect">
            <a:avLst/>
          </a:prstGeom>
          <a:noFill/>
        </p:spPr>
        <p:txBody>
          <a:bodyPr wrap="non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04000"/>
              </a:lnSpc>
              <a:buNone/>
            </a:pPr>
            <a:r>
              <a:rPr lang="en-US" sz="2950">
                <a:solidFill>
                  <a:srgbClr val="1B1B27"/>
                </a:solidFill>
                <a:latin typeface="Alexandria" pitchFamily="34" charset="0"/>
                <a:ea typeface="Alexandria" pitchFamily="34" charset="-122"/>
                <a:cs typeface="Alexandria" pitchFamily="34" charset="-120"/>
              </a:rPr>
              <a:t>The Spectrum of Threats</a:t>
            </a:r>
            <a:endParaRPr lang="en-US" sz="2950"/>
          </a:p>
        </p:txBody>
      </p:sp>
      <p:sp>
        <p:nvSpPr>
          <p:cNvPr id="3" name="Text 1"/>
          <p:cNvSpPr/>
          <p:nvPr/>
        </p:nvSpPr>
        <p:spPr>
          <a:xfrm>
            <a:off x="661475" y="2204045"/>
            <a:ext cx="10868745" cy="604838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33000"/>
              </a:lnSpc>
              <a:buNone/>
            </a:pPr>
            <a:r>
              <a:rPr lang="en-US" sz="1450">
                <a:solidFill>
                  <a:srgbClr val="404155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Attackers range from low-effort API abusers to sophisticated insiders with model access. Even low-sophistication attackers achieved high success in our tests.</a:t>
            </a:r>
            <a:endParaRPr lang="en-US" sz="1450"/>
          </a:p>
        </p:txBody>
      </p:sp>
      <p:graphicFrame>
        <p:nvGraphicFramePr>
          <p:cNvPr id="7" name="Table 0"/>
          <p:cNvGraphicFramePr>
            <a:graphicFrameLocks noGrp="1"/>
          </p:cNvGraphicFramePr>
          <p:nvPr/>
        </p:nvGraphicFramePr>
        <p:xfrm>
          <a:off x="661475" y="3021509"/>
          <a:ext cx="10868745" cy="2470087"/>
        </p:xfrm>
        <a:graphic>
          <a:graphicData uri="http://schemas.openxmlformats.org/drawingml/2006/table">
            <a:tbl>
              <a:tblPr/>
              <a:tblGrid>
                <a:gridCol w="3586686"/>
                <a:gridCol w="3586686"/>
                <a:gridCol w="3695373"/>
              </a:tblGrid>
              <a:tr h="541919">
                <a:tc>
                  <a:txBody>
                    <a:bodyPr wrap="square"/>
                    <a:lstStyle/>
                    <a:p>
                      <a:pPr marL="0" indent="0" algn="l">
                        <a:buNone/>
                      </a:pPr>
                      <a:r>
                        <a:rPr lang="en-US" sz="1450" b="1">
                          <a:solidFill>
                            <a:srgbClr val="FFFFFF"/>
                          </a:solidFill>
                          <a:latin typeface="Nobile" pitchFamily="34" charset="0"/>
                          <a:ea typeface="Nobile" pitchFamily="34" charset="-122"/>
                          <a:cs typeface="Nobile" pitchFamily="34" charset="-120"/>
                        </a:rPr>
                        <a:t>Attacker Type</a:t>
                      </a:r>
                      <a:endParaRPr lang="en-US" sz="1450">
                        <a:latin typeface="Nobile" pitchFamily="34" charset="0"/>
                        <a:ea typeface="Nobile" pitchFamily="34" charset="0"/>
                        <a:cs typeface="Nobile" pitchFamily="34" charset="0"/>
                      </a:endParaRPr>
                    </a:p>
                  </a:txBody>
                  <a:tcPr marL="189018" marR="189018" marT="6350" marB="6350" vert="horz" anchor="ctr">
                    <a:lnL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5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5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54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buNone/>
                      </a:pPr>
                      <a:r>
                        <a:rPr lang="en-US" sz="1450" b="1">
                          <a:solidFill>
                            <a:srgbClr val="FFFFFF"/>
                          </a:solidFill>
                          <a:latin typeface="Nobile" pitchFamily="34" charset="0"/>
                          <a:ea typeface="Nobile" pitchFamily="34" charset="-122"/>
                          <a:cs typeface="Nobile" pitchFamily="34" charset="-120"/>
                        </a:rPr>
                        <a:t>Access Required</a:t>
                      </a:r>
                      <a:endParaRPr lang="en-US" sz="1450">
                        <a:latin typeface="Nobile" pitchFamily="34" charset="0"/>
                        <a:ea typeface="Nobile" pitchFamily="34" charset="0"/>
                        <a:cs typeface="Nobile" pitchFamily="34" charset="0"/>
                      </a:endParaRPr>
                    </a:p>
                  </a:txBody>
                  <a:tcPr marL="189018" marR="189018" marT="6350" marB="6350" vert="horz" anchor="ctr">
                    <a:lnL w="12700" cap="flat" cmpd="sng" algn="ctr">
                      <a:solidFill>
                        <a:srgbClr val="1B5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5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5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54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buNone/>
                      </a:pPr>
                      <a:r>
                        <a:rPr lang="en-US" sz="1450" b="1">
                          <a:solidFill>
                            <a:srgbClr val="FFFFFF"/>
                          </a:solidFill>
                          <a:latin typeface="Nobile" pitchFamily="34" charset="0"/>
                          <a:ea typeface="Nobile" pitchFamily="34" charset="-122"/>
                          <a:cs typeface="Nobile" pitchFamily="34" charset="-120"/>
                        </a:rPr>
                        <a:t>Observed Result</a:t>
                      </a:r>
                      <a:endParaRPr lang="en-US" sz="1450">
                        <a:latin typeface="Nobile" pitchFamily="34" charset="0"/>
                        <a:ea typeface="Nobile" pitchFamily="34" charset="0"/>
                        <a:cs typeface="Nobile" pitchFamily="34" charset="0"/>
                      </a:endParaRPr>
                    </a:p>
                  </a:txBody>
                  <a:tcPr marL="189018" marR="189018" marT="6350" marB="6350" vert="horz" anchor="ctr">
                    <a:lnL w="12700" cap="flat" cmpd="sng" algn="ctr">
                      <a:solidFill>
                        <a:srgbClr val="1B5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5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54DA"/>
                    </a:solidFill>
                  </a:tcPr>
                </a:tc>
              </a:tr>
              <a:tr h="541919">
                <a:tc>
                  <a:txBody>
                    <a:bodyPr wrap="square"/>
                    <a:lstStyle/>
                    <a:p>
                      <a:pPr marL="0" indent="0" algn="l">
                        <a:buNone/>
                      </a:pPr>
                      <a:r>
                        <a:rPr lang="en-US" sz="1450">
                          <a:solidFill>
                            <a:srgbClr val="404155"/>
                          </a:solidFill>
                          <a:latin typeface="Nobile" pitchFamily="34" charset="0"/>
                          <a:ea typeface="Nobile" pitchFamily="34" charset="-122"/>
                          <a:cs typeface="Nobile" pitchFamily="34" charset="-120"/>
                        </a:rPr>
                        <a:t>White-box</a:t>
                      </a:r>
                      <a:endParaRPr lang="en-US" sz="1450">
                        <a:latin typeface="Nobile" pitchFamily="34" charset="0"/>
                        <a:ea typeface="Nobile" pitchFamily="34" charset="0"/>
                        <a:cs typeface="Nobile" pitchFamily="34" charset="0"/>
                      </a:endParaRPr>
                    </a:p>
                  </a:txBody>
                  <a:tcPr marL="189018" marR="189018" marT="6350" marB="6350" vert="horz" anchor="ctr">
                    <a:lnL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F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F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F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4000"/>
                      </a:srgbClr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buNone/>
                      </a:pPr>
                      <a:r>
                        <a:rPr lang="en-US" sz="1450">
                          <a:solidFill>
                            <a:srgbClr val="404155"/>
                          </a:solidFill>
                          <a:latin typeface="Nobile" pitchFamily="34" charset="0"/>
                          <a:ea typeface="Nobile" pitchFamily="34" charset="-122"/>
                          <a:cs typeface="Nobile" pitchFamily="34" charset="-120"/>
                        </a:rPr>
                        <a:t>Model weights + gradients</a:t>
                      </a:r>
                      <a:endParaRPr lang="en-US" sz="1450">
                        <a:latin typeface="Nobile" pitchFamily="34" charset="0"/>
                        <a:ea typeface="Nobile" pitchFamily="34" charset="0"/>
                        <a:cs typeface="Nobile" pitchFamily="34" charset="0"/>
                      </a:endParaRPr>
                    </a:p>
                  </a:txBody>
                  <a:tcPr marL="189018" marR="189018" marT="6350" marB="6350" vert="horz" anchor="ctr">
                    <a:lnL w="12700" cap="flat" cmpd="sng" algn="ctr">
                      <a:solidFill>
                        <a:srgbClr val="EFEF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F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F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F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4000"/>
                      </a:srgbClr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buNone/>
                      </a:pPr>
                      <a:r>
                        <a:rPr lang="en-US" sz="1450">
                          <a:solidFill>
                            <a:srgbClr val="404155"/>
                          </a:solidFill>
                          <a:latin typeface="Nobile" pitchFamily="34" charset="0"/>
                          <a:ea typeface="Nobile" pitchFamily="34" charset="-122"/>
                          <a:cs typeface="Nobile" pitchFamily="34" charset="-120"/>
                        </a:rPr>
                        <a:t>PGD — 100% success</a:t>
                      </a:r>
                      <a:endParaRPr lang="en-US" sz="1450">
                        <a:latin typeface="Nobile" pitchFamily="34" charset="0"/>
                        <a:ea typeface="Nobile" pitchFamily="34" charset="0"/>
                        <a:cs typeface="Nobile" pitchFamily="34" charset="0"/>
                      </a:endParaRPr>
                    </a:p>
                  </a:txBody>
                  <a:tcPr marL="189018" marR="189018" marT="6350" marB="6350" vert="horz" anchor="ctr">
                    <a:lnL w="12700" cap="flat" cmpd="sng" algn="ctr">
                      <a:solidFill>
                        <a:srgbClr val="EFEF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F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F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4000"/>
                      </a:srgbClr>
                    </a:solidFill>
                  </a:tcPr>
                </a:tc>
              </a:tr>
              <a:tr h="541919">
                <a:tc>
                  <a:txBody>
                    <a:bodyPr wrap="square"/>
                    <a:lstStyle/>
                    <a:p>
                      <a:pPr marL="0" indent="0" algn="l">
                        <a:buNone/>
                      </a:pPr>
                      <a:r>
                        <a:rPr lang="en-US" sz="1450">
                          <a:solidFill>
                            <a:srgbClr val="404155"/>
                          </a:solidFill>
                          <a:latin typeface="Nobile" pitchFamily="34" charset="0"/>
                          <a:ea typeface="Nobile" pitchFamily="34" charset="-122"/>
                          <a:cs typeface="Nobile" pitchFamily="34" charset="-120"/>
                        </a:rPr>
                        <a:t>Black-box</a:t>
                      </a:r>
                      <a:endParaRPr lang="en-US" sz="1450">
                        <a:latin typeface="Nobile" pitchFamily="34" charset="0"/>
                        <a:ea typeface="Nobile" pitchFamily="34" charset="0"/>
                        <a:cs typeface="Nobile" pitchFamily="34" charset="0"/>
                      </a:endParaRPr>
                    </a:p>
                  </a:txBody>
                  <a:tcPr marL="189018" marR="189018" marT="6350" marB="6350" vert="horz" anchor="ctr">
                    <a:lnL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9F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9F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9F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4000"/>
                      </a:srgbClr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buNone/>
                      </a:pPr>
                      <a:r>
                        <a:rPr lang="en-US" sz="1450">
                          <a:solidFill>
                            <a:srgbClr val="404155"/>
                          </a:solidFill>
                          <a:latin typeface="Nobile" pitchFamily="34" charset="0"/>
                          <a:ea typeface="Nobile" pitchFamily="34" charset="-122"/>
                          <a:cs typeface="Nobile" pitchFamily="34" charset="-120"/>
                        </a:rPr>
                        <a:t>API query access</a:t>
                      </a:r>
                      <a:endParaRPr lang="en-US" sz="1450">
                        <a:latin typeface="Nobile" pitchFamily="34" charset="0"/>
                        <a:ea typeface="Nobile" pitchFamily="34" charset="0"/>
                        <a:cs typeface="Nobile" pitchFamily="34" charset="0"/>
                      </a:endParaRPr>
                    </a:p>
                  </a:txBody>
                  <a:tcPr marL="189018" marR="189018" marT="6350" marB="6350" vert="horz" anchor="ctr">
                    <a:lnL w="12700" cap="flat" cmpd="sng" algn="ctr">
                      <a:solidFill>
                        <a:srgbClr val="F9F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9F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9F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9F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4000"/>
                      </a:srgbClr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buNone/>
                      </a:pPr>
                      <a:r>
                        <a:rPr lang="en-US" sz="1450">
                          <a:solidFill>
                            <a:srgbClr val="404155"/>
                          </a:solidFill>
                          <a:latin typeface="Nobile" pitchFamily="34" charset="0"/>
                          <a:ea typeface="Nobile" pitchFamily="34" charset="-122"/>
                          <a:cs typeface="Nobile" pitchFamily="34" charset="-120"/>
                        </a:rPr>
                        <a:t>Square Attack — 87% success</a:t>
                      </a:r>
                      <a:endParaRPr lang="en-US" sz="1450">
                        <a:latin typeface="Nobile" pitchFamily="34" charset="0"/>
                        <a:ea typeface="Nobile" pitchFamily="34" charset="0"/>
                        <a:cs typeface="Nobile" pitchFamily="34" charset="0"/>
                      </a:endParaRPr>
                    </a:p>
                  </a:txBody>
                  <a:tcPr marL="189018" marR="189018" marT="6350" marB="6350" vert="horz" anchor="ctr">
                    <a:lnL w="12700" cap="flat" cmpd="sng" algn="ctr">
                      <a:solidFill>
                        <a:srgbClr val="F9F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9F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9F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4000"/>
                      </a:srgbClr>
                    </a:solidFill>
                  </a:tcPr>
                </a:tc>
              </a:tr>
              <a:tr h="844330">
                <a:tc>
                  <a:txBody>
                    <a:bodyPr wrap="square"/>
                    <a:lstStyle/>
                    <a:p>
                      <a:pPr marL="0" indent="0" algn="l">
                        <a:buNone/>
                      </a:pPr>
                      <a:r>
                        <a:rPr lang="en-US" sz="1450">
                          <a:solidFill>
                            <a:srgbClr val="404155"/>
                          </a:solidFill>
                          <a:latin typeface="Nobile" pitchFamily="34" charset="0"/>
                          <a:ea typeface="Nobile" pitchFamily="34" charset="-122"/>
                          <a:cs typeface="Nobile" pitchFamily="34" charset="-120"/>
                        </a:rPr>
                        <a:t>Transfer / Extraction</a:t>
                      </a:r>
                      <a:endParaRPr lang="en-US" sz="1450">
                        <a:latin typeface="Nobile" pitchFamily="34" charset="0"/>
                        <a:ea typeface="Nobile" pitchFamily="34" charset="0"/>
                        <a:cs typeface="Nobile" pitchFamily="34" charset="0"/>
                      </a:endParaRPr>
                    </a:p>
                  </a:txBody>
                  <a:tcPr marL="189018" marR="189018" marT="6350" marB="6350" vert="horz" anchor="ctr">
                    <a:lnL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F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F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4000"/>
                      </a:srgbClr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buNone/>
                      </a:pPr>
                      <a:r>
                        <a:rPr lang="en-US" sz="1450">
                          <a:solidFill>
                            <a:srgbClr val="404155"/>
                          </a:solidFill>
                          <a:latin typeface="Nobile" pitchFamily="34" charset="0"/>
                          <a:ea typeface="Nobile" pitchFamily="34" charset="-122"/>
                          <a:cs typeface="Nobile" pitchFamily="34" charset="-120"/>
                        </a:rPr>
                        <a:t>Surrogate model from queries</a:t>
                      </a:r>
                      <a:endParaRPr lang="en-US" sz="1450">
                        <a:latin typeface="Nobile" pitchFamily="34" charset="0"/>
                        <a:ea typeface="Nobile" pitchFamily="34" charset="0"/>
                        <a:cs typeface="Nobile" pitchFamily="34" charset="0"/>
                      </a:endParaRPr>
                    </a:p>
                  </a:txBody>
                  <a:tcPr marL="189018" marR="189018" marT="6350" marB="6350" vert="horz" anchor="ctr">
                    <a:lnL w="12700" cap="flat" cmpd="sng" algn="ctr">
                      <a:solidFill>
                        <a:srgbClr val="EFEF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F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F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4000"/>
                      </a:srgbClr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buNone/>
                      </a:pPr>
                      <a:r>
                        <a:rPr lang="en-US" sz="1450">
                          <a:solidFill>
                            <a:srgbClr val="404155"/>
                          </a:solidFill>
                          <a:latin typeface="Nobile" pitchFamily="34" charset="0"/>
                          <a:ea typeface="Nobile" pitchFamily="34" charset="-122"/>
                          <a:cs typeface="Nobile" pitchFamily="34" charset="-120"/>
                        </a:rPr>
                        <a:t>Model extraction → 80% transfer success</a:t>
                      </a:r>
                      <a:endParaRPr lang="en-US" sz="1450">
                        <a:latin typeface="Nobile" pitchFamily="34" charset="0"/>
                        <a:ea typeface="Nobile" pitchFamily="34" charset="0"/>
                        <a:cs typeface="Nobile" pitchFamily="34" charset="0"/>
                      </a:endParaRPr>
                    </a:p>
                  </a:txBody>
                  <a:tcPr marL="189018" marR="189018" marT="6350" marB="6350" vert="horz" anchor="ctr">
                    <a:lnL w="12700" cap="flat" cmpd="sng" algn="ctr">
                      <a:solidFill>
                        <a:srgbClr val="EFEF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F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4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895773"/>
            <a:ext cx="10868745" cy="472480"/>
          </a:xfrm>
          <a:prstGeom prst="rect">
            <a:avLst/>
          </a:prstGeom>
          <a:noFill/>
        </p:spPr>
        <p:txBody>
          <a:bodyPr wrap="non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04000"/>
              </a:lnSpc>
              <a:buNone/>
            </a:pPr>
            <a:r>
              <a:rPr lang="en-US" sz="2950">
                <a:solidFill>
                  <a:srgbClr val="1B1B27"/>
                </a:solidFill>
                <a:latin typeface="Alexandria" pitchFamily="34" charset="0"/>
                <a:ea typeface="Alexandria" pitchFamily="34" charset="-122"/>
                <a:cs typeface="Alexandria" pitchFamily="34" charset="-120"/>
              </a:rPr>
              <a:t>Why Traditional Defenses Fail</a:t>
            </a:r>
            <a:endParaRPr lang="en-US" sz="2950"/>
          </a:p>
        </p:txBody>
      </p:sp>
      <p:sp>
        <p:nvSpPr>
          <p:cNvPr id="3" name="Text 1"/>
          <p:cNvSpPr/>
          <p:nvPr/>
        </p:nvSpPr>
        <p:spPr>
          <a:xfrm>
            <a:off x="661475" y="2651720"/>
            <a:ext cx="10868745" cy="1039416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94640" indent="-294640" algn="l">
              <a:lnSpc>
                <a:spcPct val="133000"/>
              </a:lnSpc>
              <a:buSzTx/>
              <a:buChar char="•"/>
            </a:pPr>
            <a:r>
              <a:rPr lang="en-US" sz="1450">
                <a:solidFill>
                  <a:srgbClr val="404155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Firewalls and encryption don't block adversarial inputs — they are valid, correctly formatted requests.</a:t>
            </a:r>
            <a:endParaRPr lang="en-US" sz="1450"/>
          </a:p>
          <a:p>
            <a:pPr marL="294640" indent="-294640" algn="l">
              <a:lnSpc>
                <a:spcPct val="133000"/>
              </a:lnSpc>
              <a:buSzTx/>
              <a:buChar char="•"/>
            </a:pPr>
            <a:r>
              <a:rPr lang="en-US" sz="1450">
                <a:solidFill>
                  <a:srgbClr val="404155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Input validation checks file type and size but cannot detect semantic manipulations that exploit learned features.</a:t>
            </a:r>
            <a:endParaRPr lang="en-US" sz="1450"/>
          </a:p>
          <a:p>
            <a:pPr marL="294640" indent="-294640" algn="l">
              <a:lnSpc>
                <a:spcPct val="133000"/>
              </a:lnSpc>
              <a:buSzTx/>
              <a:buChar char="•"/>
            </a:pPr>
            <a:r>
              <a:rPr lang="en-US" sz="1450">
                <a:solidFill>
                  <a:srgbClr val="404155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Access controls may limit who can send requests but not whether those requests are adversarial.</a:t>
            </a:r>
            <a:endParaRPr lang="en-US" sz="1450"/>
          </a:p>
        </p:txBody>
      </p:sp>
      <p:sp>
        <p:nvSpPr>
          <p:cNvPr id="4" name="Shape 2"/>
          <p:cNvSpPr/>
          <p:nvPr/>
        </p:nvSpPr>
        <p:spPr>
          <a:xfrm>
            <a:off x="661475" y="3903762"/>
            <a:ext cx="10868745" cy="1058366"/>
          </a:xfrm>
          <a:prstGeom prst="roundRect">
            <a:avLst>
              <a:gd name="adj" fmla="val 7501"/>
            </a:avLst>
          </a:prstGeom>
          <a:solidFill>
            <a:srgbClr val="D2DDF9"/>
          </a:solidFill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/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482" y="4171454"/>
            <a:ext cx="236234" cy="18901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75723" y="4140002"/>
            <a:ext cx="10065490" cy="604838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33000"/>
              </a:lnSpc>
              <a:buNone/>
            </a:pPr>
            <a:r>
              <a:rPr lang="en-US" sz="1450">
                <a:solidFill>
                  <a:srgbClr val="000000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Mitigation requires AI-aware controls: adversarial training, query-rate limiting, output noise/obfuscation, and active monitoring of model behavior.</a:t>
            </a:r>
            <a:endParaRPr lang="en-US" sz="1450"/>
          </a:p>
        </p:txBody>
      </p:sp>
    </p:spTree>
  </p:cSld>
  <p:clrMapOvr>
    <a:masterClrMapping/>
  </p:clrMapOvr>
  <p:transition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940123"/>
            <a:ext cx="10868745" cy="472480"/>
          </a:xfrm>
          <a:prstGeom prst="rect">
            <a:avLst/>
          </a:prstGeom>
          <a:noFill/>
        </p:spPr>
        <p:txBody>
          <a:bodyPr wrap="non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04000"/>
              </a:lnSpc>
              <a:buNone/>
            </a:pPr>
            <a:r>
              <a:rPr lang="en-US" sz="2950">
                <a:solidFill>
                  <a:srgbClr val="1B1B27"/>
                </a:solidFill>
                <a:latin typeface="Alexandria" pitchFamily="34" charset="0"/>
                <a:ea typeface="Alexandria" pitchFamily="34" charset="-122"/>
                <a:cs typeface="Alexandria" pitchFamily="34" charset="-120"/>
                <a:sym typeface="+mn-ea"/>
              </a:rPr>
              <a:t>Attack </a:t>
            </a:r>
            <a:r>
              <a:rPr lang="en-US" altLang="en-US" sz="2950">
                <a:solidFill>
                  <a:srgbClr val="1B1B27"/>
                </a:solidFill>
                <a:latin typeface="Alexandria" pitchFamily="34" charset="0"/>
                <a:ea typeface="Alexandria" pitchFamily="34" charset="-122"/>
                <a:cs typeface="Alexandria" pitchFamily="34" charset="-120"/>
                <a:sym typeface="+mn-ea"/>
              </a:rPr>
              <a:t>1</a:t>
            </a:r>
            <a:r>
              <a:rPr lang="en-US" sz="2950">
                <a:solidFill>
                  <a:srgbClr val="1B1B27"/>
                </a:solidFill>
                <a:latin typeface="Alexandria" pitchFamily="34" charset="0"/>
                <a:ea typeface="Alexandria" pitchFamily="34" charset="-122"/>
                <a:cs typeface="Alexandria" pitchFamily="34" charset="-120"/>
              </a:rPr>
              <a:t> — FGSM (White-box Baseline)</a:t>
            </a:r>
            <a:endParaRPr lang="en-US" sz="2950"/>
          </a:p>
        </p:txBody>
      </p:sp>
      <p:sp>
        <p:nvSpPr>
          <p:cNvPr id="3" name="Text 1"/>
          <p:cNvSpPr/>
          <p:nvPr/>
        </p:nvSpPr>
        <p:spPr>
          <a:xfrm>
            <a:off x="661475" y="2696071"/>
            <a:ext cx="11478330" cy="302419"/>
          </a:xfrm>
          <a:prstGeom prst="rect">
            <a:avLst/>
          </a:prstGeom>
          <a:noFill/>
        </p:spPr>
        <p:txBody>
          <a:bodyPr wrap="non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33000"/>
              </a:lnSpc>
              <a:buNone/>
            </a:pPr>
            <a:r>
              <a:rPr lang="en-US" sz="1450">
                <a:solidFill>
                  <a:srgbClr val="404155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Fast Gradient Sign Method: single-step gradient-based perturbation used as a fast baseline </a:t>
            </a:r>
            <a:r>
              <a:rPr lang="en-US" altLang="en-US" sz="1450">
                <a:solidFill>
                  <a:srgbClr val="404155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attack</a:t>
            </a:r>
            <a:r>
              <a:rPr lang="en-US" sz="1450">
                <a:solidFill>
                  <a:srgbClr val="404155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.</a:t>
            </a:r>
            <a:endParaRPr lang="en-US" sz="145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1475" y="3211116"/>
            <a:ext cx="3496877" cy="170666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6832" y="3406477"/>
            <a:ext cx="3106164" cy="295275"/>
          </a:xfrm>
          <a:prstGeom prst="rect">
            <a:avLst/>
          </a:prstGeom>
          <a:noFill/>
        </p:spPr>
        <p:txBody>
          <a:bodyPr wrap="non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04000"/>
              </a:lnSpc>
              <a:buNone/>
            </a:pPr>
            <a:r>
              <a:rPr lang="en-US" sz="1850">
                <a:solidFill>
                  <a:srgbClr val="404155"/>
                </a:solidFill>
                <a:latin typeface="Alexandria" pitchFamily="34" charset="0"/>
                <a:ea typeface="Alexandria" pitchFamily="34" charset="-122"/>
                <a:cs typeface="Alexandria" pitchFamily="34" charset="-120"/>
              </a:rPr>
              <a:t>Execution</a:t>
            </a:r>
            <a:endParaRPr lang="en-US" sz="1850"/>
          </a:p>
        </p:txBody>
      </p:sp>
      <p:sp>
        <p:nvSpPr>
          <p:cNvPr id="6" name="Text 3"/>
          <p:cNvSpPr/>
          <p:nvPr/>
        </p:nvSpPr>
        <p:spPr>
          <a:xfrm>
            <a:off x="856832" y="3815159"/>
            <a:ext cx="3106164" cy="604838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33000"/>
              </a:lnSpc>
              <a:buNone/>
            </a:pPr>
            <a:r>
              <a:rPr lang="en-US" sz="1450">
                <a:solidFill>
                  <a:srgbClr val="404155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Applied to 200 images — runtime: 28 seconds.</a:t>
            </a:r>
            <a:endParaRPr lang="en-US" sz="145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47359" y="3211116"/>
            <a:ext cx="3496877" cy="170666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542716" y="3406477"/>
            <a:ext cx="3106164" cy="295275"/>
          </a:xfrm>
          <a:prstGeom prst="rect">
            <a:avLst/>
          </a:prstGeom>
          <a:noFill/>
        </p:spPr>
        <p:txBody>
          <a:bodyPr wrap="non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04000"/>
              </a:lnSpc>
              <a:buNone/>
            </a:pPr>
            <a:r>
              <a:rPr lang="en-US" sz="1850">
                <a:solidFill>
                  <a:srgbClr val="404155"/>
                </a:solidFill>
                <a:latin typeface="Alexandria" pitchFamily="34" charset="0"/>
                <a:ea typeface="Alexandria" pitchFamily="34" charset="-122"/>
                <a:cs typeface="Alexandria" pitchFamily="34" charset="-120"/>
              </a:rPr>
              <a:t>Results (ε=8/255)</a:t>
            </a:r>
            <a:endParaRPr lang="en-US" sz="1850"/>
          </a:p>
        </p:txBody>
      </p:sp>
      <p:sp>
        <p:nvSpPr>
          <p:cNvPr id="9" name="Text 5"/>
          <p:cNvSpPr/>
          <p:nvPr/>
        </p:nvSpPr>
        <p:spPr>
          <a:xfrm>
            <a:off x="4542716" y="3815159"/>
            <a:ext cx="3106164" cy="907256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33000"/>
              </a:lnSpc>
              <a:buNone/>
            </a:pPr>
            <a:r>
              <a:rPr lang="en-US" sz="1450">
                <a:solidFill>
                  <a:srgbClr val="404155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Attack success: 91.62% — model accuracy fell from 83.5% to 8.4%; all classes impacted.</a:t>
            </a:r>
            <a:endParaRPr lang="en-US" sz="145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33244" y="3211116"/>
            <a:ext cx="3496877" cy="1706662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8228600" y="3406477"/>
            <a:ext cx="3106164" cy="295275"/>
          </a:xfrm>
          <a:prstGeom prst="rect">
            <a:avLst/>
          </a:prstGeom>
          <a:noFill/>
        </p:spPr>
        <p:txBody>
          <a:bodyPr wrap="non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04000"/>
              </a:lnSpc>
              <a:buNone/>
            </a:pPr>
            <a:r>
              <a:rPr lang="en-US" sz="1850">
                <a:solidFill>
                  <a:srgbClr val="404155"/>
                </a:solidFill>
                <a:latin typeface="Alexandria" pitchFamily="34" charset="0"/>
                <a:ea typeface="Alexandria" pitchFamily="34" charset="-122"/>
                <a:cs typeface="Alexandria" pitchFamily="34" charset="-120"/>
              </a:rPr>
              <a:t>Takeaway</a:t>
            </a:r>
            <a:endParaRPr lang="en-US" sz="1850"/>
          </a:p>
        </p:txBody>
      </p:sp>
      <p:sp>
        <p:nvSpPr>
          <p:cNvPr id="12" name="Text 7"/>
          <p:cNvSpPr/>
          <p:nvPr/>
        </p:nvSpPr>
        <p:spPr>
          <a:xfrm>
            <a:off x="8228600" y="3815159"/>
            <a:ext cx="3106164" cy="907256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33000"/>
              </a:lnSpc>
              <a:buNone/>
            </a:pPr>
            <a:r>
              <a:rPr lang="en-US" sz="1450">
                <a:solidFill>
                  <a:srgbClr val="404155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Even a single-step attack reliably degrades model performance — indicates shallow robustness.</a:t>
            </a:r>
            <a:endParaRPr lang="en-US" sz="1450"/>
          </a:p>
        </p:txBody>
      </p:sp>
    </p:spTree>
  </p:cSld>
  <p:clrMapOvr>
    <a:masterClrMapping/>
  </p:clrMapOvr>
  <p:transition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769864"/>
            <a:ext cx="10868745" cy="472480"/>
          </a:xfrm>
          <a:prstGeom prst="rect">
            <a:avLst/>
          </a:prstGeom>
          <a:noFill/>
        </p:spPr>
        <p:txBody>
          <a:bodyPr wrap="non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04000"/>
              </a:lnSpc>
              <a:buNone/>
            </a:pPr>
            <a:r>
              <a:rPr lang="en-US" sz="2950">
                <a:solidFill>
                  <a:srgbClr val="1B1B27"/>
                </a:solidFill>
                <a:latin typeface="Alexandria" pitchFamily="34" charset="0"/>
                <a:ea typeface="Alexandria" pitchFamily="34" charset="-122"/>
                <a:cs typeface="Alexandria" pitchFamily="34" charset="-120"/>
                <a:sym typeface="+mn-ea"/>
              </a:rPr>
              <a:t>Attack </a:t>
            </a:r>
            <a:r>
              <a:rPr lang="en-US" altLang="en-US" sz="2950">
                <a:solidFill>
                  <a:srgbClr val="1B1B27"/>
                </a:solidFill>
                <a:latin typeface="Alexandria" pitchFamily="34" charset="0"/>
                <a:ea typeface="Alexandria" pitchFamily="34" charset="-122"/>
                <a:cs typeface="Alexandria" pitchFamily="34" charset="-120"/>
                <a:sym typeface="+mn-ea"/>
              </a:rPr>
              <a:t>2</a:t>
            </a:r>
            <a:r>
              <a:rPr lang="en-US" sz="2950">
                <a:solidFill>
                  <a:srgbClr val="1B1B27"/>
                </a:solidFill>
                <a:latin typeface="Alexandria" pitchFamily="34" charset="0"/>
                <a:ea typeface="Alexandria" pitchFamily="34" charset="-122"/>
                <a:cs typeface="Alexandria" pitchFamily="34" charset="-120"/>
              </a:rPr>
              <a:t> — PGD (White-box Advanced)</a:t>
            </a:r>
            <a:endParaRPr lang="en-US" sz="2950"/>
          </a:p>
        </p:txBody>
      </p:sp>
      <p:sp>
        <p:nvSpPr>
          <p:cNvPr id="3" name="Text 1"/>
          <p:cNvSpPr/>
          <p:nvPr/>
        </p:nvSpPr>
        <p:spPr>
          <a:xfrm>
            <a:off x="661475" y="2525812"/>
            <a:ext cx="11478330" cy="302419"/>
          </a:xfrm>
          <a:prstGeom prst="rect">
            <a:avLst/>
          </a:prstGeom>
          <a:noFill/>
        </p:spPr>
        <p:txBody>
          <a:bodyPr wrap="non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33000"/>
              </a:lnSpc>
              <a:buNone/>
            </a:pPr>
            <a:r>
              <a:rPr lang="en-US" sz="1450">
                <a:solidFill>
                  <a:srgbClr val="404155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Projected Gradient Descent: iterative, multi-step method with random starts — the de facto robustness benchmark.</a:t>
            </a:r>
            <a:endParaRPr lang="en-US" sz="145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1475" y="3040856"/>
            <a:ext cx="3496877" cy="20471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77479" y="3255268"/>
            <a:ext cx="2966467" cy="295275"/>
          </a:xfrm>
          <a:prstGeom prst="rect">
            <a:avLst/>
          </a:prstGeom>
          <a:noFill/>
        </p:spPr>
        <p:txBody>
          <a:bodyPr wrap="non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04000"/>
              </a:lnSpc>
              <a:buNone/>
            </a:pPr>
            <a:r>
              <a:rPr lang="en-US" sz="1850">
                <a:solidFill>
                  <a:srgbClr val="404155"/>
                </a:solidFill>
                <a:latin typeface="Alexandria" pitchFamily="34" charset="0"/>
                <a:ea typeface="Alexandria" pitchFamily="34" charset="-122"/>
                <a:cs typeface="Alexandria" pitchFamily="34" charset="-120"/>
              </a:rPr>
              <a:t>Parameters</a:t>
            </a:r>
            <a:endParaRPr lang="en-US" sz="1850"/>
          </a:p>
        </p:txBody>
      </p:sp>
      <p:sp>
        <p:nvSpPr>
          <p:cNvPr id="6" name="Text 3"/>
          <p:cNvSpPr/>
          <p:nvPr/>
        </p:nvSpPr>
        <p:spPr>
          <a:xfrm>
            <a:off x="977479" y="3663950"/>
            <a:ext cx="2966467" cy="604838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33000"/>
              </a:lnSpc>
              <a:buNone/>
            </a:pPr>
            <a:r>
              <a:rPr lang="en-US" sz="1450">
                <a:solidFill>
                  <a:srgbClr val="404155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20 iterations, random restarts, ε=8/255.</a:t>
            </a:r>
            <a:endParaRPr lang="en-US" sz="145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47359" y="3040856"/>
            <a:ext cx="3496877" cy="20471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663363" y="3255268"/>
            <a:ext cx="2966467" cy="295275"/>
          </a:xfrm>
          <a:prstGeom prst="rect">
            <a:avLst/>
          </a:prstGeom>
          <a:noFill/>
        </p:spPr>
        <p:txBody>
          <a:bodyPr wrap="non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04000"/>
              </a:lnSpc>
              <a:buNone/>
            </a:pPr>
            <a:r>
              <a:rPr lang="en-US" sz="1850">
                <a:solidFill>
                  <a:srgbClr val="404155"/>
                </a:solidFill>
                <a:latin typeface="Alexandria" pitchFamily="34" charset="0"/>
                <a:ea typeface="Alexandria" pitchFamily="34" charset="-122"/>
                <a:cs typeface="Alexandria" pitchFamily="34" charset="-120"/>
              </a:rPr>
              <a:t>Results</a:t>
            </a:r>
            <a:endParaRPr lang="en-US" sz="1850"/>
          </a:p>
        </p:txBody>
      </p:sp>
      <p:sp>
        <p:nvSpPr>
          <p:cNvPr id="9" name="Text 5"/>
          <p:cNvSpPr/>
          <p:nvPr/>
        </p:nvSpPr>
        <p:spPr>
          <a:xfrm>
            <a:off x="4663363" y="3663950"/>
            <a:ext cx="2966467" cy="1209675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33000"/>
              </a:lnSpc>
              <a:buNone/>
            </a:pPr>
            <a:r>
              <a:rPr lang="en-US" sz="1450">
                <a:solidFill>
                  <a:srgbClr val="404155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Attack success: 100.00% — model accuracy collapsed to 0.00% (all 167 previously-correct images misclassified).</a:t>
            </a:r>
            <a:endParaRPr lang="en-US" sz="145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33244" y="3040856"/>
            <a:ext cx="3496877" cy="204718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8349247" y="3255268"/>
            <a:ext cx="2966467" cy="295275"/>
          </a:xfrm>
          <a:prstGeom prst="rect">
            <a:avLst/>
          </a:prstGeom>
          <a:noFill/>
        </p:spPr>
        <p:txBody>
          <a:bodyPr wrap="non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04000"/>
              </a:lnSpc>
              <a:buNone/>
            </a:pPr>
            <a:r>
              <a:rPr lang="en-US" sz="1850">
                <a:solidFill>
                  <a:srgbClr val="404155"/>
                </a:solidFill>
                <a:latin typeface="Alexandria" pitchFamily="34" charset="0"/>
                <a:ea typeface="Alexandria" pitchFamily="34" charset="-122"/>
                <a:cs typeface="Alexandria" pitchFamily="34" charset="-120"/>
              </a:rPr>
              <a:t>Implication</a:t>
            </a:r>
            <a:endParaRPr lang="en-US" sz="1850"/>
          </a:p>
        </p:txBody>
      </p:sp>
      <p:sp>
        <p:nvSpPr>
          <p:cNvPr id="12" name="Text 7"/>
          <p:cNvSpPr/>
          <p:nvPr/>
        </p:nvSpPr>
        <p:spPr>
          <a:xfrm>
            <a:off x="8349247" y="3663950"/>
            <a:ext cx="2966467" cy="1209675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33000"/>
              </a:lnSpc>
              <a:buNone/>
            </a:pPr>
            <a:r>
              <a:rPr lang="en-US" sz="1450">
                <a:solidFill>
                  <a:srgbClr val="404155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The model exhibits an absolute vulnerability ceiling — adversarial training or architectural changes required to shift it.</a:t>
            </a:r>
            <a:endParaRPr lang="en-US" sz="1450"/>
          </a:p>
        </p:txBody>
      </p:sp>
    </p:spTree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71302"/>
            <a:ext cx="10868745" cy="498376"/>
          </a:xfrm>
          <a:prstGeom prst="rect">
            <a:avLst/>
          </a:prstGeom>
          <a:noFill/>
        </p:spPr>
        <p:txBody>
          <a:bodyPr wrap="non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04000"/>
              </a:lnSpc>
              <a:buNone/>
            </a:pPr>
            <a:r>
              <a:rPr lang="en-US" sz="3100">
                <a:solidFill>
                  <a:srgbClr val="1B1B27"/>
                </a:solidFill>
                <a:latin typeface="Alexandria" pitchFamily="34" charset="0"/>
                <a:ea typeface="Alexandria" pitchFamily="34" charset="-122"/>
                <a:cs typeface="Alexandria" pitchFamily="34" charset="-120"/>
              </a:rPr>
              <a:t>Attack 3 - Square Attack (Black-box)</a:t>
            </a:r>
            <a:endParaRPr lang="en-US" sz="3100"/>
          </a:p>
        </p:txBody>
      </p:sp>
      <p:sp>
        <p:nvSpPr>
          <p:cNvPr id="3" name="Text 1"/>
          <p:cNvSpPr/>
          <p:nvPr/>
        </p:nvSpPr>
        <p:spPr>
          <a:xfrm>
            <a:off x="661475" y="1271488"/>
            <a:ext cx="10868745" cy="739279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23000"/>
              </a:lnSpc>
              <a:spcAft>
                <a:spcPts val="1150"/>
              </a:spcAft>
              <a:buNone/>
            </a:pPr>
            <a:r>
              <a:rPr lang="en-US" sz="1550">
                <a:solidFill>
                  <a:srgbClr val="404155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87% success with only API access—no model knowledge required</a:t>
            </a:r>
            <a:endParaRPr lang="en-US" sz="1550"/>
          </a:p>
          <a:p>
            <a:pPr marL="0" indent="0" algn="l">
              <a:lnSpc>
                <a:spcPct val="123000"/>
              </a:lnSpc>
              <a:buNone/>
            </a:pPr>
            <a:r>
              <a:rPr lang="en-US" sz="1550">
                <a:solidFill>
                  <a:srgbClr val="404155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Method:</a:t>
            </a:r>
            <a:endParaRPr lang="en-US" sz="1550"/>
          </a:p>
        </p:txBody>
      </p:sp>
      <p:sp>
        <p:nvSpPr>
          <p:cNvPr id="4" name="Text 2"/>
          <p:cNvSpPr/>
          <p:nvPr/>
        </p:nvSpPr>
        <p:spPr>
          <a:xfrm>
            <a:off x="661670" y="2162175"/>
            <a:ext cx="10868660" cy="93599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 lnSpcReduction="20000"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54000" indent="-254000" algn="l">
              <a:lnSpc>
                <a:spcPct val="123000"/>
              </a:lnSpc>
              <a:buSzTx/>
              <a:buChar char="•"/>
            </a:pPr>
            <a:r>
              <a:rPr lang="en-US" sz="1250">
                <a:solidFill>
                  <a:srgbClr val="404155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Query-based optimization</a:t>
            </a:r>
            <a:endParaRPr lang="en-US" sz="1250"/>
          </a:p>
          <a:p>
            <a:pPr marL="254000" indent="-254000" algn="l">
              <a:lnSpc>
                <a:spcPct val="123000"/>
              </a:lnSpc>
              <a:buSzTx/>
              <a:buChar char="•"/>
            </a:pPr>
            <a:r>
              <a:rPr lang="en-US" sz="1250">
                <a:solidFill>
                  <a:srgbClr val="404155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No gradients needed (API queries only)</a:t>
            </a:r>
            <a:endParaRPr lang="en-US" sz="1250"/>
          </a:p>
          <a:p>
            <a:pPr marL="254000" indent="-254000" algn="l">
              <a:lnSpc>
                <a:spcPct val="123000"/>
              </a:lnSpc>
              <a:buSzTx/>
              <a:buChar char="•"/>
            </a:pPr>
            <a:r>
              <a:rPr lang="en-US" sz="1250">
                <a:solidFill>
                  <a:srgbClr val="404155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Random square perturbations</a:t>
            </a:r>
            <a:endParaRPr lang="en-US" sz="1250"/>
          </a:p>
          <a:p>
            <a:pPr marL="254000" indent="-254000" algn="l">
              <a:lnSpc>
                <a:spcPct val="123000"/>
              </a:lnSpc>
              <a:buSzTx/>
              <a:buChar char="•"/>
            </a:pPr>
            <a:r>
              <a:rPr lang="en-US" sz="1250">
                <a:solidFill>
                  <a:srgbClr val="404155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Adaptive search strategy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661475" y="3445570"/>
            <a:ext cx="10868745" cy="249138"/>
          </a:xfrm>
          <a:prstGeom prst="rect">
            <a:avLst/>
          </a:prstGeom>
          <a:noFill/>
        </p:spPr>
        <p:txBody>
          <a:bodyPr wrap="non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04000"/>
              </a:lnSpc>
              <a:buNone/>
            </a:pPr>
            <a:r>
              <a:rPr lang="en-US" sz="1550">
                <a:solidFill>
                  <a:srgbClr val="1B1B27"/>
                </a:solidFill>
                <a:latin typeface="Alexandria" pitchFamily="34" charset="0"/>
                <a:ea typeface="Alexandria" pitchFamily="34" charset="-122"/>
                <a:cs typeface="Alexandria" pitchFamily="34" charset="-120"/>
              </a:rPr>
              <a:t>Query Budget Analysis:</a:t>
            </a:r>
            <a:endParaRPr lang="en-US" sz="1550"/>
          </a:p>
        </p:txBody>
      </p:sp>
      <p:graphicFrame>
        <p:nvGraphicFramePr>
          <p:cNvPr id="10" name="Table 0"/>
          <p:cNvGraphicFramePr>
            <a:graphicFrameLocks noGrp="1"/>
          </p:cNvGraphicFramePr>
          <p:nvPr/>
        </p:nvGraphicFramePr>
        <p:xfrm>
          <a:off x="661475" y="3896519"/>
          <a:ext cx="10868744" cy="1655722"/>
        </p:xfrm>
        <a:graphic>
          <a:graphicData uri="http://schemas.openxmlformats.org/drawingml/2006/table">
            <a:tbl>
              <a:tblPr/>
              <a:tblGrid>
                <a:gridCol w="2717186"/>
                <a:gridCol w="2717186"/>
                <a:gridCol w="2717186"/>
                <a:gridCol w="2717186"/>
              </a:tblGrid>
              <a:tr h="412343">
                <a:tc>
                  <a:txBody>
                    <a:bodyPr wrap="square"/>
                    <a:lstStyle/>
                    <a:p>
                      <a:pPr marL="0" indent="0" algn="l">
                        <a:buNone/>
                      </a:pPr>
                      <a:r>
                        <a:rPr lang="en-US" sz="1250" b="1">
                          <a:solidFill>
                            <a:srgbClr val="404155"/>
                          </a:solidFill>
                          <a:latin typeface="Nobile" pitchFamily="34" charset="0"/>
                          <a:ea typeface="Nobile" pitchFamily="34" charset="-122"/>
                          <a:cs typeface="Nobile" pitchFamily="34" charset="-120"/>
                        </a:rPr>
                        <a:t>Budget</a:t>
                      </a:r>
                      <a:endParaRPr lang="en-US" sz="1250">
                        <a:latin typeface="Nobile" pitchFamily="34" charset="0"/>
                        <a:ea typeface="Nobile" pitchFamily="34" charset="0"/>
                        <a:cs typeface="Nobile" pitchFamily="34" charset="0"/>
                      </a:endParaRPr>
                    </a:p>
                  </a:txBody>
                  <a:tcPr marL="159485" marR="159485" marT="6350" marB="6350" vert="horz" anchor="ctr">
                    <a:lnL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9F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buNone/>
                      </a:pPr>
                      <a:r>
                        <a:rPr lang="en-US" sz="1250" b="1">
                          <a:solidFill>
                            <a:srgbClr val="404155"/>
                          </a:solidFill>
                          <a:latin typeface="Nobile" pitchFamily="34" charset="0"/>
                          <a:ea typeface="Nobile" pitchFamily="34" charset="-122"/>
                          <a:cs typeface="Nobile" pitchFamily="34" charset="-120"/>
                        </a:rPr>
                        <a:t>Success Rate</a:t>
                      </a:r>
                      <a:endParaRPr lang="en-US" sz="1250">
                        <a:latin typeface="Nobile" pitchFamily="34" charset="0"/>
                        <a:ea typeface="Nobile" pitchFamily="34" charset="0"/>
                        <a:cs typeface="Nobile" pitchFamily="34" charset="0"/>
                      </a:endParaRPr>
                    </a:p>
                  </a:txBody>
                  <a:tcPr marL="159485" marR="159485" marT="6350" marB="6350" vert="horz" anchor="ctr">
                    <a:lnL w="12700" cap="flat" cmpd="sng" algn="ctr">
                      <a:solidFill>
                        <a:srgbClr val="F9F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9F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buNone/>
                      </a:pPr>
                      <a:r>
                        <a:rPr lang="en-US" sz="1250" b="1">
                          <a:solidFill>
                            <a:srgbClr val="404155"/>
                          </a:solidFill>
                          <a:latin typeface="Nobile" pitchFamily="34" charset="0"/>
                          <a:ea typeface="Nobile" pitchFamily="34" charset="-122"/>
                          <a:cs typeface="Nobile" pitchFamily="34" charset="-120"/>
                        </a:rPr>
                        <a:t>Median Queries</a:t>
                      </a:r>
                      <a:endParaRPr lang="en-US" sz="1250">
                        <a:latin typeface="Nobile" pitchFamily="34" charset="0"/>
                        <a:ea typeface="Nobile" pitchFamily="34" charset="0"/>
                        <a:cs typeface="Nobile" pitchFamily="34" charset="0"/>
                      </a:endParaRPr>
                    </a:p>
                  </a:txBody>
                  <a:tcPr marL="159485" marR="159485" marT="6350" marB="6350" vert="horz" anchor="ctr">
                    <a:lnL w="12700" cap="flat" cmpd="sng" algn="ctr">
                      <a:solidFill>
                        <a:srgbClr val="F9F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9F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buNone/>
                      </a:pPr>
                      <a:r>
                        <a:rPr lang="en-US" sz="1250" b="1">
                          <a:solidFill>
                            <a:srgbClr val="404155"/>
                          </a:solidFill>
                          <a:latin typeface="Nobile" pitchFamily="34" charset="0"/>
                          <a:ea typeface="Nobile" pitchFamily="34" charset="-122"/>
                          <a:cs typeface="Nobile" pitchFamily="34" charset="-120"/>
                        </a:rPr>
                        <a:t>Time</a:t>
                      </a:r>
                      <a:endParaRPr lang="en-US" sz="1250">
                        <a:latin typeface="Nobile" pitchFamily="34" charset="0"/>
                        <a:ea typeface="Nobile" pitchFamily="34" charset="0"/>
                        <a:cs typeface="Nobile" pitchFamily="34" charset="0"/>
                      </a:endParaRPr>
                    </a:p>
                  </a:txBody>
                  <a:tcPr marL="159485" marR="159485" marT="6350" marB="6350" vert="horz" anchor="ctr">
                    <a:lnL w="12700" cap="flat" cmpd="sng" algn="ctr">
                      <a:solidFill>
                        <a:srgbClr val="F9F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5518">
                <a:tc>
                  <a:txBody>
                    <a:bodyPr wrap="square"/>
                    <a:lstStyle/>
                    <a:p>
                      <a:pPr marL="0" indent="0" algn="l">
                        <a:buNone/>
                      </a:pPr>
                      <a:r>
                        <a:rPr lang="en-US" sz="1250">
                          <a:solidFill>
                            <a:srgbClr val="404155"/>
                          </a:solidFill>
                          <a:latin typeface="Nobile" pitchFamily="34" charset="0"/>
                          <a:ea typeface="Nobile" pitchFamily="34" charset="-122"/>
                          <a:cs typeface="Nobile" pitchFamily="34" charset="-120"/>
                        </a:rPr>
                        <a:t>50</a:t>
                      </a:r>
                      <a:endParaRPr lang="en-US" sz="1250">
                        <a:latin typeface="Nobile" pitchFamily="34" charset="0"/>
                        <a:ea typeface="Nobile" pitchFamily="34" charset="0"/>
                        <a:cs typeface="Nobile" pitchFamily="34" charset="0"/>
                      </a:endParaRPr>
                    </a:p>
                  </a:txBody>
                  <a:tcPr marL="159485" marR="159485" marT="6350" marB="6350" vert="horz" anchor="ctr">
                    <a:lnL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9F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buNone/>
                      </a:pPr>
                      <a:r>
                        <a:rPr lang="en-US" sz="1250">
                          <a:solidFill>
                            <a:srgbClr val="404155"/>
                          </a:solidFill>
                          <a:latin typeface="Nobile" pitchFamily="34" charset="0"/>
                          <a:ea typeface="Nobile" pitchFamily="34" charset="-122"/>
                          <a:cs typeface="Nobile" pitchFamily="34" charset="-120"/>
                        </a:rPr>
                        <a:t>42.77%</a:t>
                      </a:r>
                      <a:endParaRPr lang="en-US" sz="1250">
                        <a:latin typeface="Nobile" pitchFamily="34" charset="0"/>
                        <a:ea typeface="Nobile" pitchFamily="34" charset="0"/>
                        <a:cs typeface="Nobile" pitchFamily="34" charset="0"/>
                      </a:endParaRPr>
                    </a:p>
                  </a:txBody>
                  <a:tcPr marL="159485" marR="159485" marT="6350" marB="6350" vert="horz" anchor="ctr">
                    <a:lnL w="12700" cap="flat" cmpd="sng" algn="ctr">
                      <a:solidFill>
                        <a:srgbClr val="F9F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9F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buNone/>
                      </a:pPr>
                      <a:r>
                        <a:rPr lang="en-US" sz="1250">
                          <a:solidFill>
                            <a:srgbClr val="404155"/>
                          </a:solidFill>
                          <a:latin typeface="Nobile" pitchFamily="34" charset="0"/>
                          <a:ea typeface="Nobile" pitchFamily="34" charset="-122"/>
                          <a:cs typeface="Nobile" pitchFamily="34" charset="-120"/>
                        </a:rPr>
                        <a:t>7</a:t>
                      </a:r>
                      <a:endParaRPr lang="en-US" sz="1250">
                        <a:latin typeface="Nobile" pitchFamily="34" charset="0"/>
                        <a:ea typeface="Nobile" pitchFamily="34" charset="0"/>
                        <a:cs typeface="Nobile" pitchFamily="34" charset="0"/>
                      </a:endParaRPr>
                    </a:p>
                  </a:txBody>
                  <a:tcPr marL="159485" marR="159485" marT="6350" marB="6350" vert="horz" anchor="ctr">
                    <a:lnL w="12700" cap="flat" cmpd="sng" algn="ctr">
                      <a:solidFill>
                        <a:srgbClr val="F9F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9F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buNone/>
                      </a:pPr>
                      <a:r>
                        <a:rPr lang="en-US" sz="1250">
                          <a:solidFill>
                            <a:srgbClr val="404155"/>
                          </a:solidFill>
                          <a:latin typeface="Nobile" pitchFamily="34" charset="0"/>
                          <a:ea typeface="Nobile" pitchFamily="34" charset="-122"/>
                          <a:cs typeface="Nobile" pitchFamily="34" charset="-120"/>
                        </a:rPr>
                        <a:t>58s</a:t>
                      </a:r>
                      <a:endParaRPr lang="en-US" sz="1250">
                        <a:latin typeface="Nobile" pitchFamily="34" charset="0"/>
                        <a:ea typeface="Nobile" pitchFamily="34" charset="0"/>
                        <a:cs typeface="Nobile" pitchFamily="34" charset="0"/>
                      </a:endParaRPr>
                    </a:p>
                  </a:txBody>
                  <a:tcPr marL="159485" marR="159485" marT="6350" marB="6350" vert="horz" anchor="ctr">
                    <a:lnL w="12700" cap="flat" cmpd="sng" algn="ctr">
                      <a:solidFill>
                        <a:srgbClr val="F9F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5518">
                <a:tc>
                  <a:txBody>
                    <a:bodyPr wrap="square"/>
                    <a:lstStyle/>
                    <a:p>
                      <a:pPr marL="0" indent="0" algn="l">
                        <a:buNone/>
                      </a:pPr>
                      <a:r>
                        <a:rPr lang="en-US" sz="1250">
                          <a:solidFill>
                            <a:srgbClr val="404155"/>
                          </a:solidFill>
                          <a:latin typeface="Nobile" pitchFamily="34" charset="0"/>
                          <a:ea typeface="Nobile" pitchFamily="34" charset="-122"/>
                          <a:cs typeface="Nobile" pitchFamily="34" charset="-120"/>
                        </a:rPr>
                        <a:t>200</a:t>
                      </a:r>
                      <a:endParaRPr lang="en-US" sz="1250">
                        <a:latin typeface="Nobile" pitchFamily="34" charset="0"/>
                        <a:ea typeface="Nobile" pitchFamily="34" charset="0"/>
                        <a:cs typeface="Nobile" pitchFamily="34" charset="0"/>
                      </a:endParaRPr>
                    </a:p>
                  </a:txBody>
                  <a:tcPr marL="159485" marR="159485" marT="6350" marB="6350" vert="horz" anchor="ctr">
                    <a:lnL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9F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buNone/>
                      </a:pPr>
                      <a:r>
                        <a:rPr lang="en-US" sz="1250">
                          <a:solidFill>
                            <a:srgbClr val="404155"/>
                          </a:solidFill>
                          <a:latin typeface="Nobile" pitchFamily="34" charset="0"/>
                          <a:ea typeface="Nobile" pitchFamily="34" charset="-122"/>
                          <a:cs typeface="Nobile" pitchFamily="34" charset="-120"/>
                        </a:rPr>
                        <a:t>68.67%</a:t>
                      </a:r>
                      <a:endParaRPr lang="en-US" sz="1250">
                        <a:latin typeface="Nobile" pitchFamily="34" charset="0"/>
                        <a:ea typeface="Nobile" pitchFamily="34" charset="0"/>
                        <a:cs typeface="Nobile" pitchFamily="34" charset="0"/>
                      </a:endParaRPr>
                    </a:p>
                  </a:txBody>
                  <a:tcPr marL="159485" marR="159485" marT="6350" marB="6350" vert="horz" anchor="ctr">
                    <a:lnL w="12700" cap="flat" cmpd="sng" algn="ctr">
                      <a:solidFill>
                        <a:srgbClr val="F9F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9F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buNone/>
                      </a:pPr>
                      <a:r>
                        <a:rPr lang="en-US" sz="1250">
                          <a:solidFill>
                            <a:srgbClr val="404155"/>
                          </a:solidFill>
                          <a:latin typeface="Nobile" pitchFamily="34" charset="0"/>
                          <a:ea typeface="Nobile" pitchFamily="34" charset="-122"/>
                          <a:cs typeface="Nobile" pitchFamily="34" charset="-120"/>
                        </a:rPr>
                        <a:t>14</a:t>
                      </a:r>
                      <a:endParaRPr lang="en-US" sz="1250">
                        <a:latin typeface="Nobile" pitchFamily="34" charset="0"/>
                        <a:ea typeface="Nobile" pitchFamily="34" charset="0"/>
                        <a:cs typeface="Nobile" pitchFamily="34" charset="0"/>
                      </a:endParaRPr>
                    </a:p>
                  </a:txBody>
                  <a:tcPr marL="159485" marR="159485" marT="6350" marB="6350" vert="horz" anchor="ctr">
                    <a:lnL w="12700" cap="flat" cmpd="sng" algn="ctr">
                      <a:solidFill>
                        <a:srgbClr val="F9F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9F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buNone/>
                      </a:pPr>
                      <a:r>
                        <a:rPr lang="en-US" sz="1250">
                          <a:solidFill>
                            <a:srgbClr val="404155"/>
                          </a:solidFill>
                          <a:latin typeface="Nobile" pitchFamily="34" charset="0"/>
                          <a:ea typeface="Nobile" pitchFamily="34" charset="-122"/>
                          <a:cs typeface="Nobile" pitchFamily="34" charset="-120"/>
                        </a:rPr>
                        <a:t>148s</a:t>
                      </a:r>
                      <a:endParaRPr lang="en-US" sz="1250">
                        <a:latin typeface="Nobile" pitchFamily="34" charset="0"/>
                        <a:ea typeface="Nobile" pitchFamily="34" charset="0"/>
                        <a:cs typeface="Nobile" pitchFamily="34" charset="0"/>
                      </a:endParaRPr>
                    </a:p>
                  </a:txBody>
                  <a:tcPr marL="159485" marR="159485" marT="6350" marB="6350" vert="horz" anchor="ctr">
                    <a:lnL w="12700" cap="flat" cmpd="sng" algn="ctr">
                      <a:solidFill>
                        <a:srgbClr val="F9F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2343">
                <a:tc>
                  <a:txBody>
                    <a:bodyPr wrap="square"/>
                    <a:lstStyle/>
                    <a:p>
                      <a:pPr marL="0" indent="0" algn="l">
                        <a:buNone/>
                      </a:pPr>
                      <a:r>
                        <a:rPr lang="en-US" sz="1250">
                          <a:solidFill>
                            <a:srgbClr val="404155"/>
                          </a:solidFill>
                          <a:latin typeface="Nobile" pitchFamily="34" charset="0"/>
                          <a:ea typeface="Nobile" pitchFamily="34" charset="-122"/>
                          <a:cs typeface="Nobile" pitchFamily="34" charset="-120"/>
                        </a:rPr>
                        <a:t>500</a:t>
                      </a:r>
                      <a:endParaRPr lang="en-US" sz="1250">
                        <a:latin typeface="Nobile" pitchFamily="34" charset="0"/>
                        <a:ea typeface="Nobile" pitchFamily="34" charset="0"/>
                        <a:cs typeface="Nobile" pitchFamily="34" charset="0"/>
                      </a:endParaRPr>
                    </a:p>
                  </a:txBody>
                  <a:tcPr marL="159485" marR="159485" marT="6350" marB="6350" vert="horz" anchor="ctr">
                    <a:lnL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9F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buNone/>
                      </a:pPr>
                      <a:r>
                        <a:rPr lang="en-US" sz="1250">
                          <a:solidFill>
                            <a:srgbClr val="404155"/>
                          </a:solidFill>
                          <a:latin typeface="Nobile" pitchFamily="34" charset="0"/>
                          <a:ea typeface="Nobile" pitchFamily="34" charset="-122"/>
                          <a:cs typeface="Nobile" pitchFamily="34" charset="-120"/>
                        </a:rPr>
                        <a:t>86.75%</a:t>
                      </a:r>
                      <a:endParaRPr lang="en-US" sz="1250">
                        <a:latin typeface="Nobile" pitchFamily="34" charset="0"/>
                        <a:ea typeface="Nobile" pitchFamily="34" charset="0"/>
                        <a:cs typeface="Nobile" pitchFamily="34" charset="0"/>
                      </a:endParaRPr>
                    </a:p>
                  </a:txBody>
                  <a:tcPr marL="159485" marR="159485" marT="6350" marB="6350" vert="horz" anchor="ctr">
                    <a:lnL w="12700" cap="flat" cmpd="sng" algn="ctr">
                      <a:solidFill>
                        <a:srgbClr val="F9F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9F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buNone/>
                      </a:pPr>
                      <a:r>
                        <a:rPr lang="en-US" sz="1250">
                          <a:solidFill>
                            <a:srgbClr val="404155"/>
                          </a:solidFill>
                          <a:latin typeface="Nobile" pitchFamily="34" charset="0"/>
                          <a:ea typeface="Nobile" pitchFamily="34" charset="-122"/>
                          <a:cs typeface="Nobile" pitchFamily="34" charset="-120"/>
                        </a:rPr>
                        <a:t>31</a:t>
                      </a:r>
                      <a:endParaRPr lang="en-US" sz="1250">
                        <a:latin typeface="Nobile" pitchFamily="34" charset="0"/>
                        <a:ea typeface="Nobile" pitchFamily="34" charset="0"/>
                        <a:cs typeface="Nobile" pitchFamily="34" charset="0"/>
                      </a:endParaRPr>
                    </a:p>
                  </a:txBody>
                  <a:tcPr marL="159485" marR="159485" marT="6350" marB="6350" vert="horz" anchor="ctr">
                    <a:lnL w="12700" cap="flat" cmpd="sng" algn="ctr">
                      <a:solidFill>
                        <a:srgbClr val="F9F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9F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buNone/>
                      </a:pPr>
                      <a:r>
                        <a:rPr lang="en-US" sz="1250">
                          <a:solidFill>
                            <a:srgbClr val="404155"/>
                          </a:solidFill>
                          <a:latin typeface="Nobile" pitchFamily="34" charset="0"/>
                          <a:ea typeface="Nobile" pitchFamily="34" charset="-122"/>
                          <a:cs typeface="Nobile" pitchFamily="34" charset="-120"/>
                        </a:rPr>
                        <a:t>271s</a:t>
                      </a:r>
                      <a:endParaRPr lang="en-US" sz="1250">
                        <a:latin typeface="Nobile" pitchFamily="34" charset="0"/>
                        <a:ea typeface="Nobile" pitchFamily="34" charset="0"/>
                        <a:cs typeface="Nobile" pitchFamily="34" charset="0"/>
                      </a:endParaRPr>
                    </a:p>
                  </a:txBody>
                  <a:tcPr marL="159485" marR="159485" marT="6350" marB="6350" vert="horz" anchor="ctr">
                    <a:lnL w="12700" cap="flat" cmpd="sng" algn="ctr">
                      <a:solidFill>
                        <a:srgbClr val="F9F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61670" y="5716270"/>
            <a:ext cx="10525760" cy="542925"/>
          </a:xfrm>
          <a:prstGeom prst="roundRect">
            <a:avLst>
              <a:gd name="adj" fmla="val 11745"/>
            </a:avLst>
          </a:prstGeom>
          <a:solidFill>
            <a:srgbClr val="D2DDF9"/>
          </a:solidFill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/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0915" y="5909766"/>
            <a:ext cx="199325" cy="159445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179830" y="5890895"/>
            <a:ext cx="10458450" cy="368300"/>
          </a:xfrm>
          <a:prstGeom prst="rect">
            <a:avLst/>
          </a:prstGeom>
          <a:noFill/>
        </p:spPr>
        <p:txBody>
          <a:bodyPr wrap="non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23000"/>
              </a:lnSpc>
              <a:buNone/>
            </a:pPr>
            <a:r>
              <a:rPr lang="en-US" sz="1250">
                <a:solidFill>
                  <a:srgbClr val="000000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Key Finding: </a:t>
            </a:r>
            <a:r>
              <a:rPr lang="en-US" altLang="en-US" sz="1250">
                <a:solidFill>
                  <a:srgbClr val="000000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 attacks used </a:t>
            </a:r>
            <a:r>
              <a:rPr lang="en-US" altLang="en-US" sz="1250" b="1">
                <a:solidFill>
                  <a:srgbClr val="404155"/>
                </a:solidFill>
                <a:latin typeface="Nobile" pitchFamily="34" charset="0"/>
                <a:ea typeface="Nobile" pitchFamily="34" charset="-122"/>
                <a:cs typeface="Nobile" pitchFamily="34" charset="-120"/>
                <a:sym typeface="+mn-ea"/>
              </a:rPr>
              <a:t>46,572 </a:t>
            </a:r>
            <a:r>
              <a:rPr lang="en-US" altLang="en-US" sz="1250">
                <a:solidFill>
                  <a:srgbClr val="000000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queries with out rate limiting and </a:t>
            </a:r>
            <a:r>
              <a:rPr lang="en-US" sz="1250">
                <a:solidFill>
                  <a:srgbClr val="000000"/>
                </a:solidFill>
                <a:latin typeface="Nobile" pitchFamily="34" charset="0"/>
                <a:ea typeface="Nobile" pitchFamily="34" charset="-122"/>
                <a:cs typeface="Nobile" pitchFamily="34" charset="-120"/>
                <a:sym typeface="+mn-ea"/>
              </a:rPr>
              <a:t>Most successful attacks need only 31 queries (median) </a:t>
            </a:r>
            <a:endParaRPr lang="en-US" altLang="en-US" sz="1250" b="1">
              <a:solidFill>
                <a:srgbClr val="404155"/>
              </a:solidFill>
              <a:latin typeface="Nobile" pitchFamily="34" charset="0"/>
              <a:ea typeface="Nobile" pitchFamily="34" charset="-122"/>
              <a:cs typeface="Nobile" pitchFamily="34" charset="-120"/>
              <a:sym typeface="+mn-ea"/>
            </a:endParaRPr>
          </a:p>
        </p:txBody>
      </p:sp>
    </p:spTree>
  </p:cSld>
  <p:clrMapOvr>
    <a:masterClrMapping/>
  </p:clrMapOvr>
  <p:transition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91542"/>
            <a:ext cx="10868745" cy="350738"/>
          </a:xfrm>
          <a:prstGeom prst="rect">
            <a:avLst/>
          </a:prstGeom>
          <a:noFill/>
        </p:spPr>
        <p:txBody>
          <a:bodyPr wrap="non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04000"/>
              </a:lnSpc>
              <a:buNone/>
            </a:pPr>
            <a:r>
              <a:rPr lang="en-US" sz="2200">
                <a:solidFill>
                  <a:srgbClr val="1B1B27"/>
                </a:solidFill>
                <a:latin typeface="Alexandria" pitchFamily="34" charset="0"/>
                <a:ea typeface="Alexandria" pitchFamily="34" charset="-122"/>
                <a:cs typeface="Alexandria" pitchFamily="34" charset="-120"/>
              </a:rPr>
              <a:t>Attack 4 - Model Extraction </a:t>
            </a:r>
            <a:endParaRPr lang="en-US" sz="2200"/>
          </a:p>
        </p:txBody>
      </p:sp>
      <p:sp>
        <p:nvSpPr>
          <p:cNvPr id="3" name="Text 1"/>
          <p:cNvSpPr/>
          <p:nvPr/>
        </p:nvSpPr>
        <p:spPr>
          <a:xfrm>
            <a:off x="661475" y="1042194"/>
            <a:ext cx="11478330" cy="178792"/>
          </a:xfrm>
          <a:prstGeom prst="rect">
            <a:avLst/>
          </a:prstGeom>
          <a:noFill/>
        </p:spPr>
        <p:txBody>
          <a:bodyPr wrap="non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06000"/>
              </a:lnSpc>
              <a:buNone/>
            </a:pPr>
            <a:r>
              <a:rPr lang="en-US" sz="1100">
                <a:solidFill>
                  <a:srgbClr val="404155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10,000 queries replicate 80% of model behavior—enables offline attacks</a:t>
            </a:r>
            <a:endParaRPr lang="en-US" sz="1100"/>
          </a:p>
        </p:txBody>
      </p:sp>
      <p:sp>
        <p:nvSpPr>
          <p:cNvPr id="4" name="Text 2"/>
          <p:cNvSpPr/>
          <p:nvPr/>
        </p:nvSpPr>
        <p:spPr>
          <a:xfrm>
            <a:off x="661475" y="1295896"/>
            <a:ext cx="11478330" cy="143073"/>
          </a:xfrm>
          <a:prstGeom prst="rect">
            <a:avLst/>
          </a:prstGeom>
          <a:noFill/>
        </p:spPr>
        <p:txBody>
          <a:bodyPr wrap="non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2720" indent="-172720" algn="l">
              <a:lnSpc>
                <a:spcPct val="106000"/>
              </a:lnSpc>
              <a:buSzTx/>
              <a:buChar char="​"/>
            </a:pPr>
            <a:r>
              <a:rPr lang="en-US" sz="850">
                <a:solidFill>
                  <a:srgbClr val="404155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Victim parameters: 1,342,122</a:t>
            </a:r>
            <a:endParaRPr lang="en-US" sz="850"/>
          </a:p>
        </p:txBody>
      </p:sp>
      <p:sp>
        <p:nvSpPr>
          <p:cNvPr id="5" name="Shape 3"/>
          <p:cNvSpPr/>
          <p:nvPr/>
        </p:nvSpPr>
        <p:spPr>
          <a:xfrm>
            <a:off x="661475" y="1311275"/>
            <a:ext cx="112214" cy="112216"/>
          </a:xfrm>
          <a:prstGeom prst="roundRect">
            <a:avLst>
              <a:gd name="adj" fmla="val 42006"/>
            </a:avLst>
          </a:prstGeom>
          <a:noFill/>
          <a:ln w="12700">
            <a:solidFill>
              <a:srgbClr val="1B54DA"/>
            </a:solidFill>
            <a:prstDash val="solid"/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/>
        </p:txBody>
      </p:sp>
      <p:sp>
        <p:nvSpPr>
          <p:cNvPr id="6" name="Text 4"/>
          <p:cNvSpPr/>
          <p:nvPr/>
        </p:nvSpPr>
        <p:spPr>
          <a:xfrm>
            <a:off x="661475" y="1462286"/>
            <a:ext cx="11478330" cy="143073"/>
          </a:xfrm>
          <a:prstGeom prst="rect">
            <a:avLst/>
          </a:prstGeom>
          <a:noFill/>
        </p:spPr>
        <p:txBody>
          <a:bodyPr wrap="non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2720" indent="-172720" algn="l">
              <a:lnSpc>
                <a:spcPct val="106000"/>
              </a:lnSpc>
              <a:buSzTx/>
              <a:buChar char="​"/>
            </a:pPr>
            <a:r>
              <a:rPr lang="en-US" sz="850">
                <a:solidFill>
                  <a:srgbClr val="404155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Surrogate parameters: 620,810</a:t>
            </a:r>
            <a:endParaRPr lang="en-US" sz="850"/>
          </a:p>
        </p:txBody>
      </p:sp>
      <p:sp>
        <p:nvSpPr>
          <p:cNvPr id="7" name="Shape 5"/>
          <p:cNvSpPr/>
          <p:nvPr/>
        </p:nvSpPr>
        <p:spPr>
          <a:xfrm>
            <a:off x="661475" y="1477665"/>
            <a:ext cx="112214" cy="112216"/>
          </a:xfrm>
          <a:prstGeom prst="roundRect">
            <a:avLst>
              <a:gd name="adj" fmla="val 42006"/>
            </a:avLst>
          </a:prstGeom>
          <a:noFill/>
          <a:ln w="12700">
            <a:solidFill>
              <a:srgbClr val="1B54DA"/>
            </a:solidFill>
            <a:prstDash val="solid"/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/>
        </p:txBody>
      </p:sp>
      <p:sp>
        <p:nvSpPr>
          <p:cNvPr id="8" name="Text 6"/>
          <p:cNvSpPr/>
          <p:nvPr/>
        </p:nvSpPr>
        <p:spPr>
          <a:xfrm>
            <a:off x="661475" y="1705273"/>
            <a:ext cx="10868745" cy="280491"/>
          </a:xfrm>
          <a:prstGeom prst="rect">
            <a:avLst/>
          </a:prstGeom>
          <a:noFill/>
        </p:spPr>
        <p:txBody>
          <a:bodyPr wrap="non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04000"/>
              </a:lnSpc>
              <a:buNone/>
            </a:pPr>
            <a:r>
              <a:rPr lang="en-US" sz="1750">
                <a:solidFill>
                  <a:srgbClr val="1B1B27"/>
                </a:solidFill>
                <a:latin typeface="Alexandria" pitchFamily="34" charset="0"/>
                <a:ea typeface="Alexandria" pitchFamily="34" charset="-122"/>
                <a:cs typeface="Alexandria" pitchFamily="34" charset="-120"/>
              </a:rPr>
              <a:t>Method: Knowledge distillation via API</a:t>
            </a:r>
            <a:endParaRPr lang="en-US" sz="1750"/>
          </a:p>
        </p:txBody>
      </p:sp>
      <p:sp>
        <p:nvSpPr>
          <p:cNvPr id="9" name="Shape 7"/>
          <p:cNvSpPr/>
          <p:nvPr/>
        </p:nvSpPr>
        <p:spPr>
          <a:xfrm>
            <a:off x="661475" y="2211884"/>
            <a:ext cx="10868745" cy="12700"/>
          </a:xfrm>
          <a:prstGeom prst="roundRect">
            <a:avLst>
              <a:gd name="adj" fmla="val 49999"/>
            </a:avLst>
          </a:prstGeom>
          <a:solidFill>
            <a:srgbClr val="B8C3DF"/>
          </a:solidFill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/>
        </p:txBody>
      </p:sp>
      <p:sp>
        <p:nvSpPr>
          <p:cNvPr id="10" name="Shape 8"/>
          <p:cNvSpPr/>
          <p:nvPr/>
        </p:nvSpPr>
        <p:spPr>
          <a:xfrm>
            <a:off x="1982341" y="2211834"/>
            <a:ext cx="12700" cy="336649"/>
          </a:xfrm>
          <a:prstGeom prst="roundRect">
            <a:avLst>
              <a:gd name="adj" fmla="val 49999"/>
            </a:avLst>
          </a:prstGeom>
          <a:solidFill>
            <a:srgbClr val="B8C3DF"/>
          </a:solidFill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/>
        </p:txBody>
      </p:sp>
      <p:sp>
        <p:nvSpPr>
          <p:cNvPr id="11" name="Shape 9"/>
          <p:cNvSpPr/>
          <p:nvPr/>
        </p:nvSpPr>
        <p:spPr>
          <a:xfrm>
            <a:off x="1862488" y="2085628"/>
            <a:ext cx="252505" cy="252512"/>
          </a:xfrm>
          <a:prstGeom prst="roundRect">
            <a:avLst>
              <a:gd name="adj" fmla="val 18668"/>
            </a:avLst>
          </a:prstGeom>
          <a:solidFill>
            <a:srgbClr val="D2DDF9"/>
          </a:solidFill>
          <a:ln w="6350">
            <a:solidFill>
              <a:srgbClr val="B8C3DF"/>
            </a:solidFill>
            <a:prstDash val="solid"/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/>
        </p:txBody>
      </p:sp>
      <p:sp>
        <p:nvSpPr>
          <p:cNvPr id="12" name="Text 10"/>
          <p:cNvSpPr/>
          <p:nvPr/>
        </p:nvSpPr>
        <p:spPr>
          <a:xfrm>
            <a:off x="1904555" y="2106662"/>
            <a:ext cx="168271" cy="2103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US" sz="1300">
                <a:solidFill>
                  <a:srgbClr val="404155"/>
                </a:solidFill>
                <a:latin typeface="Alexandria" pitchFamily="34" charset="0"/>
                <a:ea typeface="Alexandria" pitchFamily="34" charset="-122"/>
                <a:cs typeface="Alexandria" pitchFamily="34" charset="-120"/>
              </a:rPr>
              <a:t>1</a:t>
            </a:r>
            <a:endParaRPr lang="en-US" sz="1300"/>
          </a:p>
        </p:txBody>
      </p:sp>
      <p:sp>
        <p:nvSpPr>
          <p:cNvPr id="13" name="Text 11"/>
          <p:cNvSpPr/>
          <p:nvPr/>
        </p:nvSpPr>
        <p:spPr>
          <a:xfrm>
            <a:off x="773688" y="2660848"/>
            <a:ext cx="2430302" cy="210443"/>
          </a:xfrm>
          <a:prstGeom prst="rect">
            <a:avLst/>
          </a:prstGeom>
          <a:noFill/>
        </p:spPr>
        <p:txBody>
          <a:bodyPr wrap="non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4000"/>
              </a:lnSpc>
              <a:buNone/>
            </a:pPr>
            <a:r>
              <a:rPr lang="en-US" sz="1300">
                <a:solidFill>
                  <a:srgbClr val="404155"/>
                </a:solidFill>
                <a:latin typeface="Alexandria" pitchFamily="34" charset="0"/>
                <a:ea typeface="Alexandria" pitchFamily="34" charset="-122"/>
                <a:cs typeface="Alexandria" pitchFamily="34" charset="-120"/>
              </a:rPr>
              <a:t>Query API 10,000 times</a:t>
            </a:r>
            <a:endParaRPr lang="en-US" sz="1300"/>
          </a:p>
        </p:txBody>
      </p:sp>
      <p:sp>
        <p:nvSpPr>
          <p:cNvPr id="14" name="Shape 12"/>
          <p:cNvSpPr/>
          <p:nvPr/>
        </p:nvSpPr>
        <p:spPr>
          <a:xfrm>
            <a:off x="4720313" y="2211834"/>
            <a:ext cx="12700" cy="336649"/>
          </a:xfrm>
          <a:prstGeom prst="roundRect">
            <a:avLst>
              <a:gd name="adj" fmla="val 49999"/>
            </a:avLst>
          </a:prstGeom>
          <a:solidFill>
            <a:srgbClr val="B8C3DF"/>
          </a:solidFill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/>
        </p:txBody>
      </p:sp>
      <p:sp>
        <p:nvSpPr>
          <p:cNvPr id="15" name="Shape 13"/>
          <p:cNvSpPr/>
          <p:nvPr/>
        </p:nvSpPr>
        <p:spPr>
          <a:xfrm>
            <a:off x="4600460" y="2085628"/>
            <a:ext cx="252505" cy="252512"/>
          </a:xfrm>
          <a:prstGeom prst="roundRect">
            <a:avLst>
              <a:gd name="adj" fmla="val 18668"/>
            </a:avLst>
          </a:prstGeom>
          <a:solidFill>
            <a:srgbClr val="D2DDF9"/>
          </a:solidFill>
          <a:ln w="6350">
            <a:solidFill>
              <a:srgbClr val="B8C3DF"/>
            </a:solidFill>
            <a:prstDash val="solid"/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/>
        </p:txBody>
      </p:sp>
      <p:sp>
        <p:nvSpPr>
          <p:cNvPr id="16" name="Text 14"/>
          <p:cNvSpPr/>
          <p:nvPr/>
        </p:nvSpPr>
        <p:spPr>
          <a:xfrm>
            <a:off x="4642528" y="2106662"/>
            <a:ext cx="168271" cy="2103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US" sz="1300">
                <a:solidFill>
                  <a:srgbClr val="404155"/>
                </a:solidFill>
                <a:latin typeface="Alexandria" pitchFamily="34" charset="0"/>
                <a:ea typeface="Alexandria" pitchFamily="34" charset="-122"/>
                <a:cs typeface="Alexandria" pitchFamily="34" charset="-120"/>
              </a:rPr>
              <a:t>2</a:t>
            </a:r>
            <a:endParaRPr lang="en-US" sz="1300"/>
          </a:p>
        </p:txBody>
      </p:sp>
      <p:sp>
        <p:nvSpPr>
          <p:cNvPr id="17" name="Text 15"/>
          <p:cNvSpPr/>
          <p:nvPr/>
        </p:nvSpPr>
        <p:spPr>
          <a:xfrm>
            <a:off x="3511661" y="2660848"/>
            <a:ext cx="2430302" cy="420886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4000"/>
              </a:lnSpc>
              <a:buNone/>
            </a:pPr>
            <a:r>
              <a:rPr lang="en-US" sz="1300">
                <a:solidFill>
                  <a:srgbClr val="404155"/>
                </a:solidFill>
                <a:latin typeface="Alexandria" pitchFamily="34" charset="0"/>
                <a:ea typeface="Alexandria" pitchFamily="34" charset="-122"/>
                <a:cs typeface="Alexandria" pitchFamily="34" charset="-120"/>
              </a:rPr>
              <a:t>Train surrogate on victim's predictions</a:t>
            </a:r>
            <a:endParaRPr lang="en-US" sz="1300"/>
          </a:p>
        </p:txBody>
      </p:sp>
      <p:sp>
        <p:nvSpPr>
          <p:cNvPr id="18" name="Shape 16"/>
          <p:cNvSpPr/>
          <p:nvPr/>
        </p:nvSpPr>
        <p:spPr>
          <a:xfrm>
            <a:off x="7458285" y="2211834"/>
            <a:ext cx="12700" cy="336649"/>
          </a:xfrm>
          <a:prstGeom prst="roundRect">
            <a:avLst>
              <a:gd name="adj" fmla="val 49999"/>
            </a:avLst>
          </a:prstGeom>
          <a:solidFill>
            <a:srgbClr val="B8C3DF"/>
          </a:solidFill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/>
        </p:txBody>
      </p:sp>
      <p:sp>
        <p:nvSpPr>
          <p:cNvPr id="19" name="Shape 17"/>
          <p:cNvSpPr/>
          <p:nvPr/>
        </p:nvSpPr>
        <p:spPr>
          <a:xfrm>
            <a:off x="7338432" y="2085628"/>
            <a:ext cx="252505" cy="252512"/>
          </a:xfrm>
          <a:prstGeom prst="roundRect">
            <a:avLst>
              <a:gd name="adj" fmla="val 18668"/>
            </a:avLst>
          </a:prstGeom>
          <a:solidFill>
            <a:srgbClr val="D2DDF9"/>
          </a:solidFill>
          <a:ln w="6350">
            <a:solidFill>
              <a:srgbClr val="B8C3DF"/>
            </a:solidFill>
            <a:prstDash val="solid"/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/>
        </p:txBody>
      </p:sp>
      <p:sp>
        <p:nvSpPr>
          <p:cNvPr id="20" name="Text 18"/>
          <p:cNvSpPr/>
          <p:nvPr/>
        </p:nvSpPr>
        <p:spPr>
          <a:xfrm>
            <a:off x="7380500" y="2106662"/>
            <a:ext cx="168271" cy="2103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US" sz="1300">
                <a:solidFill>
                  <a:srgbClr val="404155"/>
                </a:solidFill>
                <a:latin typeface="Alexandria" pitchFamily="34" charset="0"/>
                <a:ea typeface="Alexandria" pitchFamily="34" charset="-122"/>
                <a:cs typeface="Alexandria" pitchFamily="34" charset="-120"/>
              </a:rPr>
              <a:t>3</a:t>
            </a:r>
            <a:endParaRPr lang="en-US" sz="1300"/>
          </a:p>
        </p:txBody>
      </p:sp>
      <p:sp>
        <p:nvSpPr>
          <p:cNvPr id="21" name="Text 19"/>
          <p:cNvSpPr/>
          <p:nvPr/>
        </p:nvSpPr>
        <p:spPr>
          <a:xfrm>
            <a:off x="6249633" y="2660848"/>
            <a:ext cx="2430302" cy="210443"/>
          </a:xfrm>
          <a:prstGeom prst="rect">
            <a:avLst/>
          </a:prstGeom>
          <a:noFill/>
        </p:spPr>
        <p:txBody>
          <a:bodyPr wrap="non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4000"/>
              </a:lnSpc>
              <a:buNone/>
            </a:pPr>
            <a:r>
              <a:rPr lang="en-US" sz="1300">
                <a:solidFill>
                  <a:srgbClr val="404155"/>
                </a:solidFill>
                <a:latin typeface="Alexandria" pitchFamily="34" charset="0"/>
                <a:ea typeface="Alexandria" pitchFamily="34" charset="-122"/>
                <a:cs typeface="Alexandria" pitchFamily="34" charset="-120"/>
              </a:rPr>
              <a:t>Test agreement</a:t>
            </a:r>
            <a:endParaRPr lang="en-US" sz="1300"/>
          </a:p>
        </p:txBody>
      </p:sp>
      <p:sp>
        <p:nvSpPr>
          <p:cNvPr id="22" name="Shape 20"/>
          <p:cNvSpPr/>
          <p:nvPr/>
        </p:nvSpPr>
        <p:spPr>
          <a:xfrm>
            <a:off x="10196357" y="2211834"/>
            <a:ext cx="12700" cy="336649"/>
          </a:xfrm>
          <a:prstGeom prst="roundRect">
            <a:avLst>
              <a:gd name="adj" fmla="val 49999"/>
            </a:avLst>
          </a:prstGeom>
          <a:solidFill>
            <a:srgbClr val="B8C3DF"/>
          </a:solidFill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/>
        </p:txBody>
      </p:sp>
      <p:sp>
        <p:nvSpPr>
          <p:cNvPr id="23" name="Shape 21"/>
          <p:cNvSpPr/>
          <p:nvPr/>
        </p:nvSpPr>
        <p:spPr>
          <a:xfrm>
            <a:off x="10076503" y="2085628"/>
            <a:ext cx="252505" cy="252512"/>
          </a:xfrm>
          <a:prstGeom prst="roundRect">
            <a:avLst>
              <a:gd name="adj" fmla="val 18668"/>
            </a:avLst>
          </a:prstGeom>
          <a:solidFill>
            <a:srgbClr val="D2DDF9"/>
          </a:solidFill>
          <a:ln w="6350">
            <a:solidFill>
              <a:srgbClr val="B8C3DF"/>
            </a:solidFill>
            <a:prstDash val="solid"/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/>
        </p:txBody>
      </p:sp>
      <p:sp>
        <p:nvSpPr>
          <p:cNvPr id="24" name="Text 22"/>
          <p:cNvSpPr/>
          <p:nvPr/>
        </p:nvSpPr>
        <p:spPr>
          <a:xfrm>
            <a:off x="10118571" y="2106662"/>
            <a:ext cx="168271" cy="2103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US" sz="1300">
                <a:solidFill>
                  <a:srgbClr val="404155"/>
                </a:solidFill>
                <a:latin typeface="Alexandria" pitchFamily="34" charset="0"/>
                <a:ea typeface="Alexandria" pitchFamily="34" charset="-122"/>
                <a:cs typeface="Alexandria" pitchFamily="34" charset="-120"/>
              </a:rPr>
              <a:t>4</a:t>
            </a:r>
            <a:endParaRPr lang="en-US" sz="1300"/>
          </a:p>
        </p:txBody>
      </p:sp>
      <p:sp>
        <p:nvSpPr>
          <p:cNvPr id="25" name="Text 23"/>
          <p:cNvSpPr/>
          <p:nvPr/>
        </p:nvSpPr>
        <p:spPr>
          <a:xfrm>
            <a:off x="8987605" y="2660848"/>
            <a:ext cx="2430402" cy="210443"/>
          </a:xfrm>
          <a:prstGeom prst="rect">
            <a:avLst/>
          </a:prstGeom>
          <a:noFill/>
        </p:spPr>
        <p:txBody>
          <a:bodyPr wrap="non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4000"/>
              </a:lnSpc>
              <a:buNone/>
            </a:pPr>
            <a:r>
              <a:rPr lang="en-US" sz="1300">
                <a:solidFill>
                  <a:srgbClr val="404155"/>
                </a:solidFill>
                <a:latin typeface="Alexandria" pitchFamily="34" charset="0"/>
                <a:ea typeface="Alexandria" pitchFamily="34" charset="-122"/>
                <a:cs typeface="Alexandria" pitchFamily="34" charset="-120"/>
              </a:rPr>
              <a:t>Adversarial transfer</a:t>
            </a:r>
            <a:endParaRPr lang="en-US" sz="1300"/>
          </a:p>
        </p:txBody>
      </p:sp>
      <p:sp>
        <p:nvSpPr>
          <p:cNvPr id="26" name="Text 24"/>
          <p:cNvSpPr/>
          <p:nvPr/>
        </p:nvSpPr>
        <p:spPr>
          <a:xfrm>
            <a:off x="661475" y="3181648"/>
            <a:ext cx="10868745" cy="280491"/>
          </a:xfrm>
          <a:prstGeom prst="rect">
            <a:avLst/>
          </a:prstGeom>
          <a:noFill/>
        </p:spPr>
        <p:txBody>
          <a:bodyPr wrap="non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04000"/>
              </a:lnSpc>
              <a:buNone/>
            </a:pPr>
            <a:r>
              <a:rPr lang="en-US" sz="1750">
                <a:solidFill>
                  <a:srgbClr val="1B1B27"/>
                </a:solidFill>
                <a:latin typeface="Alexandria" pitchFamily="34" charset="0"/>
                <a:ea typeface="Alexandria" pitchFamily="34" charset="-122"/>
                <a:cs typeface="Alexandria" pitchFamily="34" charset="-120"/>
              </a:rPr>
              <a:t>Results:</a:t>
            </a:r>
            <a:endParaRPr lang="en-US" sz="1750"/>
          </a:p>
        </p:txBody>
      </p:sp>
      <p:sp>
        <p:nvSpPr>
          <p:cNvPr id="27" name="Text 25"/>
          <p:cNvSpPr/>
          <p:nvPr/>
        </p:nvSpPr>
        <p:spPr>
          <a:xfrm>
            <a:off x="661475" y="3618111"/>
            <a:ext cx="5392702" cy="370384"/>
          </a:xfrm>
          <a:prstGeom prst="rect">
            <a:avLst/>
          </a:prstGeom>
          <a:noFill/>
        </p:spPr>
        <p:txBody>
          <a:bodyPr wrap="non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83000"/>
              </a:lnSpc>
              <a:buNone/>
            </a:pPr>
            <a:r>
              <a:rPr lang="en-US" sz="2900">
                <a:solidFill>
                  <a:srgbClr val="404155"/>
                </a:solidFill>
                <a:latin typeface="Alexandria" pitchFamily="34" charset="0"/>
                <a:ea typeface="Alexandria" pitchFamily="34" charset="-122"/>
                <a:cs typeface="Alexandria" pitchFamily="34" charset="-120"/>
              </a:rPr>
              <a:t>80.3%</a:t>
            </a:r>
            <a:endParaRPr lang="en-US" sz="2900"/>
          </a:p>
        </p:txBody>
      </p:sp>
      <p:sp>
        <p:nvSpPr>
          <p:cNvPr id="28" name="Text 26"/>
          <p:cNvSpPr/>
          <p:nvPr/>
        </p:nvSpPr>
        <p:spPr>
          <a:xfrm>
            <a:off x="661475" y="4094460"/>
            <a:ext cx="5392702" cy="175320"/>
          </a:xfrm>
          <a:prstGeom prst="rect">
            <a:avLst/>
          </a:prstGeom>
          <a:noFill/>
        </p:spPr>
        <p:txBody>
          <a:bodyPr wrap="non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4000"/>
              </a:lnSpc>
              <a:buNone/>
            </a:pPr>
            <a:r>
              <a:rPr lang="en-US" sz="1100">
                <a:solidFill>
                  <a:srgbClr val="404155"/>
                </a:solidFill>
                <a:latin typeface="Alexandria" pitchFamily="34" charset="0"/>
                <a:ea typeface="Alexandria" pitchFamily="34" charset="-122"/>
                <a:cs typeface="Alexandria" pitchFamily="34" charset="-120"/>
              </a:rPr>
              <a:t>Agreement rate</a:t>
            </a:r>
            <a:endParaRPr lang="en-US" sz="1100"/>
          </a:p>
        </p:txBody>
      </p:sp>
      <p:sp>
        <p:nvSpPr>
          <p:cNvPr id="29" name="Text 27"/>
          <p:cNvSpPr/>
          <p:nvPr/>
        </p:nvSpPr>
        <p:spPr>
          <a:xfrm>
            <a:off x="661475" y="4309666"/>
            <a:ext cx="5392702" cy="143073"/>
          </a:xfrm>
          <a:prstGeom prst="rect">
            <a:avLst/>
          </a:prstGeom>
          <a:noFill/>
        </p:spPr>
        <p:txBody>
          <a:bodyPr wrap="non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6000"/>
              </a:lnSpc>
              <a:buNone/>
            </a:pPr>
            <a:r>
              <a:rPr lang="en-US" sz="850">
                <a:solidFill>
                  <a:srgbClr val="404155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(surrogate mimics victim)</a:t>
            </a:r>
            <a:endParaRPr lang="en-US" sz="850"/>
          </a:p>
        </p:txBody>
      </p:sp>
      <p:sp>
        <p:nvSpPr>
          <p:cNvPr id="30" name="Text 28"/>
          <p:cNvSpPr/>
          <p:nvPr/>
        </p:nvSpPr>
        <p:spPr>
          <a:xfrm>
            <a:off x="6137419" y="3618111"/>
            <a:ext cx="5392801" cy="370384"/>
          </a:xfrm>
          <a:prstGeom prst="rect">
            <a:avLst/>
          </a:prstGeom>
          <a:noFill/>
        </p:spPr>
        <p:txBody>
          <a:bodyPr wrap="non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83000"/>
              </a:lnSpc>
              <a:buNone/>
            </a:pPr>
            <a:r>
              <a:rPr lang="en-US" sz="2900">
                <a:solidFill>
                  <a:srgbClr val="404155"/>
                </a:solidFill>
                <a:latin typeface="Alexandria" pitchFamily="34" charset="0"/>
                <a:ea typeface="Alexandria" pitchFamily="34" charset="-122"/>
                <a:cs typeface="Alexandria" pitchFamily="34" charset="-120"/>
              </a:rPr>
              <a:t>95</a:t>
            </a:r>
            <a:endParaRPr lang="en-US" sz="2900"/>
          </a:p>
        </p:txBody>
      </p:sp>
      <p:sp>
        <p:nvSpPr>
          <p:cNvPr id="31" name="Text 29"/>
          <p:cNvSpPr/>
          <p:nvPr/>
        </p:nvSpPr>
        <p:spPr>
          <a:xfrm>
            <a:off x="6137419" y="4094460"/>
            <a:ext cx="5392801" cy="175320"/>
          </a:xfrm>
          <a:prstGeom prst="rect">
            <a:avLst/>
          </a:prstGeom>
          <a:noFill/>
        </p:spPr>
        <p:txBody>
          <a:bodyPr wrap="non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4000"/>
              </a:lnSpc>
              <a:buNone/>
            </a:pPr>
            <a:r>
              <a:rPr lang="en-US" sz="1100">
                <a:solidFill>
                  <a:srgbClr val="404155"/>
                </a:solidFill>
                <a:latin typeface="Alexandria" pitchFamily="34" charset="0"/>
                <a:ea typeface="Alexandria" pitchFamily="34" charset="-122"/>
                <a:cs typeface="Alexandria" pitchFamily="34" charset="-120"/>
              </a:rPr>
              <a:t>Queries/second</a:t>
            </a:r>
            <a:endParaRPr lang="en-US" sz="1100"/>
          </a:p>
        </p:txBody>
      </p:sp>
      <p:sp>
        <p:nvSpPr>
          <p:cNvPr id="32" name="Text 30"/>
          <p:cNvSpPr/>
          <p:nvPr/>
        </p:nvSpPr>
        <p:spPr>
          <a:xfrm>
            <a:off x="6137419" y="4309666"/>
            <a:ext cx="5392801" cy="143073"/>
          </a:xfrm>
          <a:prstGeom prst="rect">
            <a:avLst/>
          </a:prstGeom>
          <a:noFill/>
        </p:spPr>
        <p:txBody>
          <a:bodyPr wrap="non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6000"/>
              </a:lnSpc>
              <a:buNone/>
            </a:pPr>
            <a:r>
              <a:rPr lang="en-US" sz="850">
                <a:solidFill>
                  <a:srgbClr val="404155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(no throttling)</a:t>
            </a:r>
            <a:endParaRPr lang="en-US" sz="850"/>
          </a:p>
        </p:txBody>
      </p:sp>
      <p:sp>
        <p:nvSpPr>
          <p:cNvPr id="33" name="Text 31"/>
          <p:cNvSpPr/>
          <p:nvPr/>
        </p:nvSpPr>
        <p:spPr>
          <a:xfrm>
            <a:off x="661475" y="4642048"/>
            <a:ext cx="5392702" cy="370384"/>
          </a:xfrm>
          <a:prstGeom prst="rect">
            <a:avLst/>
          </a:prstGeom>
          <a:noFill/>
        </p:spPr>
        <p:txBody>
          <a:bodyPr wrap="non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83000"/>
              </a:lnSpc>
              <a:buNone/>
            </a:pPr>
            <a:r>
              <a:rPr lang="en-US" sz="2900">
                <a:solidFill>
                  <a:srgbClr val="404155"/>
                </a:solidFill>
                <a:latin typeface="Alexandria" pitchFamily="34" charset="0"/>
                <a:ea typeface="Alexandria" pitchFamily="34" charset="-122"/>
                <a:cs typeface="Alexandria" pitchFamily="34" charset="-120"/>
              </a:rPr>
              <a:t>80.12%</a:t>
            </a:r>
            <a:endParaRPr lang="en-US" sz="2900"/>
          </a:p>
        </p:txBody>
      </p:sp>
      <p:sp>
        <p:nvSpPr>
          <p:cNvPr id="34" name="Text 32"/>
          <p:cNvSpPr/>
          <p:nvPr/>
        </p:nvSpPr>
        <p:spPr>
          <a:xfrm>
            <a:off x="661475" y="5118398"/>
            <a:ext cx="5392702" cy="175320"/>
          </a:xfrm>
          <a:prstGeom prst="rect">
            <a:avLst/>
          </a:prstGeom>
          <a:noFill/>
        </p:spPr>
        <p:txBody>
          <a:bodyPr wrap="non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4000"/>
              </a:lnSpc>
              <a:buNone/>
            </a:pPr>
            <a:r>
              <a:rPr lang="en-US" sz="1100">
                <a:solidFill>
                  <a:srgbClr val="404155"/>
                </a:solidFill>
                <a:latin typeface="Alexandria" pitchFamily="34" charset="0"/>
                <a:ea typeface="Alexandria" pitchFamily="34" charset="-122"/>
                <a:cs typeface="Alexandria" pitchFamily="34" charset="-120"/>
              </a:rPr>
              <a:t>Transfer success</a:t>
            </a:r>
            <a:endParaRPr lang="en-US" sz="1100"/>
          </a:p>
        </p:txBody>
      </p:sp>
      <p:sp>
        <p:nvSpPr>
          <p:cNvPr id="35" name="Text 33"/>
          <p:cNvSpPr/>
          <p:nvPr/>
        </p:nvSpPr>
        <p:spPr>
          <a:xfrm>
            <a:off x="661475" y="5333603"/>
            <a:ext cx="5392702" cy="143073"/>
          </a:xfrm>
          <a:prstGeom prst="rect">
            <a:avLst/>
          </a:prstGeom>
          <a:noFill/>
        </p:spPr>
        <p:txBody>
          <a:bodyPr wrap="non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6000"/>
              </a:lnSpc>
              <a:buNone/>
            </a:pPr>
            <a:r>
              <a:rPr lang="en-US" sz="850">
                <a:solidFill>
                  <a:srgbClr val="404155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(adversarials crafted on surrogate fool victim)</a:t>
            </a:r>
            <a:endParaRPr lang="en-US" sz="850"/>
          </a:p>
        </p:txBody>
      </p:sp>
      <p:sp>
        <p:nvSpPr>
          <p:cNvPr id="36" name="Text 34"/>
          <p:cNvSpPr/>
          <p:nvPr/>
        </p:nvSpPr>
        <p:spPr>
          <a:xfrm>
            <a:off x="6137419" y="4642048"/>
            <a:ext cx="5392801" cy="370384"/>
          </a:xfrm>
          <a:prstGeom prst="rect">
            <a:avLst/>
          </a:prstGeom>
          <a:noFill/>
        </p:spPr>
        <p:txBody>
          <a:bodyPr wrap="non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83000"/>
              </a:lnSpc>
              <a:buNone/>
            </a:pPr>
            <a:r>
              <a:rPr lang="en-US" sz="2900">
                <a:solidFill>
                  <a:srgbClr val="404155"/>
                </a:solidFill>
                <a:latin typeface="Alexandria" pitchFamily="34" charset="0"/>
                <a:ea typeface="Alexandria" pitchFamily="34" charset="-122"/>
                <a:cs typeface="Alexandria" pitchFamily="34" charset="-120"/>
              </a:rPr>
              <a:t>8.8</a:t>
            </a:r>
            <a:endParaRPr lang="en-US" sz="2900"/>
          </a:p>
        </p:txBody>
      </p:sp>
      <p:sp>
        <p:nvSpPr>
          <p:cNvPr id="37" name="Text 35"/>
          <p:cNvSpPr/>
          <p:nvPr/>
        </p:nvSpPr>
        <p:spPr>
          <a:xfrm>
            <a:off x="6137419" y="5118398"/>
            <a:ext cx="5392801" cy="175320"/>
          </a:xfrm>
          <a:prstGeom prst="rect">
            <a:avLst/>
          </a:prstGeom>
          <a:noFill/>
        </p:spPr>
        <p:txBody>
          <a:bodyPr wrap="non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4000"/>
              </a:lnSpc>
              <a:buNone/>
            </a:pPr>
            <a:r>
              <a:rPr lang="en-US" sz="1100">
                <a:solidFill>
                  <a:srgbClr val="404155"/>
                </a:solidFill>
                <a:latin typeface="Alexandria" pitchFamily="34" charset="0"/>
                <a:ea typeface="Alexandria" pitchFamily="34" charset="-122"/>
                <a:cs typeface="Alexandria" pitchFamily="34" charset="-120"/>
              </a:rPr>
              <a:t>Total time (minutes)</a:t>
            </a:r>
            <a:endParaRPr lang="en-US" sz="1100"/>
          </a:p>
        </p:txBody>
      </p:sp>
      <p:sp>
        <p:nvSpPr>
          <p:cNvPr id="38" name="Text 36"/>
          <p:cNvSpPr/>
          <p:nvPr/>
        </p:nvSpPr>
        <p:spPr>
          <a:xfrm>
            <a:off x="661475" y="5576590"/>
            <a:ext cx="10868745" cy="280491"/>
          </a:xfrm>
          <a:prstGeom prst="rect">
            <a:avLst/>
          </a:prstGeom>
          <a:noFill/>
        </p:spPr>
        <p:txBody>
          <a:bodyPr wrap="non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04000"/>
              </a:lnSpc>
              <a:buNone/>
            </a:pPr>
            <a:r>
              <a:rPr lang="en-US" sz="1750">
                <a:solidFill>
                  <a:srgbClr val="1B1B27"/>
                </a:solidFill>
                <a:latin typeface="Alexandria" pitchFamily="34" charset="0"/>
                <a:ea typeface="Alexandria" pitchFamily="34" charset="-122"/>
                <a:cs typeface="Alexandria" pitchFamily="34" charset="-120"/>
              </a:rPr>
              <a:t>Impact:</a:t>
            </a:r>
            <a:endParaRPr lang="en-US" sz="1750"/>
          </a:p>
        </p:txBody>
      </p:sp>
      <p:sp>
        <p:nvSpPr>
          <p:cNvPr id="39" name="Text 37"/>
          <p:cNvSpPr/>
          <p:nvPr/>
        </p:nvSpPr>
        <p:spPr>
          <a:xfrm>
            <a:off x="661475" y="5956995"/>
            <a:ext cx="10868745" cy="309463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2720" indent="-172720" algn="l">
              <a:lnSpc>
                <a:spcPct val="106000"/>
              </a:lnSpc>
              <a:buSzTx/>
              <a:buChar char="•"/>
            </a:pPr>
            <a:r>
              <a:rPr lang="en-US" sz="850">
                <a:solidFill>
                  <a:srgbClr val="404155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Intellectual property stolen</a:t>
            </a:r>
            <a:endParaRPr lang="en-US" sz="850"/>
          </a:p>
          <a:p>
            <a:pPr marL="172720" indent="-172720" algn="l">
              <a:lnSpc>
                <a:spcPct val="106000"/>
              </a:lnSpc>
              <a:buSzTx/>
              <a:buChar char="•"/>
            </a:pPr>
            <a:r>
              <a:rPr lang="en-US" sz="850">
                <a:solidFill>
                  <a:srgbClr val="404155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Attacker gains gradient access (white-box capability from black-box starting point)</a:t>
            </a:r>
            <a:endParaRPr lang="en-US" sz="850"/>
          </a:p>
        </p:txBody>
      </p:sp>
    </p:spTree>
  </p:cSld>
  <p:clrMapOvr>
    <a:masterClrMapping/>
  </p:clrMapOvr>
  <p:transition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81521"/>
            <a:ext cx="10868745" cy="415330"/>
          </a:xfrm>
          <a:prstGeom prst="rect">
            <a:avLst/>
          </a:prstGeom>
          <a:noFill/>
        </p:spPr>
        <p:txBody>
          <a:bodyPr wrap="non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04000"/>
              </a:lnSpc>
              <a:buNone/>
            </a:pPr>
            <a:r>
              <a:rPr lang="en-US" sz="2600">
                <a:solidFill>
                  <a:srgbClr val="1B1B27"/>
                </a:solidFill>
                <a:latin typeface="Alexandria" pitchFamily="34" charset="0"/>
                <a:ea typeface="Alexandria" pitchFamily="34" charset="-122"/>
                <a:cs typeface="Alexandria" pitchFamily="34" charset="-120"/>
              </a:rPr>
              <a:t>Attack Success Comparison</a:t>
            </a:r>
            <a:endParaRPr lang="en-US" sz="2600"/>
          </a:p>
        </p:txBody>
      </p:sp>
      <p:sp>
        <p:nvSpPr>
          <p:cNvPr id="3" name="Text 1"/>
          <p:cNvSpPr/>
          <p:nvPr/>
        </p:nvSpPr>
        <p:spPr>
          <a:xfrm>
            <a:off x="661475" y="1136948"/>
            <a:ext cx="10868745" cy="1146175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04000"/>
              </a:lnSpc>
              <a:buNone/>
            </a:pPr>
            <a:r>
              <a:rPr lang="en-US" sz="3600">
                <a:solidFill>
                  <a:srgbClr val="1B1B27"/>
                </a:solidFill>
                <a:latin typeface="Alexandria" pitchFamily="34" charset="0"/>
                <a:ea typeface="Alexandria" pitchFamily="34" charset="-122"/>
                <a:cs typeface="Alexandria" pitchFamily="34" charset="-120"/>
              </a:rPr>
              <a:t>Black-box attacks rival white-box effectiveness—threat is practical</a:t>
            </a:r>
            <a:endParaRPr lang="en-US" sz="3600"/>
          </a:p>
        </p:txBody>
      </p:sp>
      <p:sp>
        <p:nvSpPr>
          <p:cNvPr id="4" name="Text 2"/>
          <p:cNvSpPr/>
          <p:nvPr/>
        </p:nvSpPr>
        <p:spPr>
          <a:xfrm>
            <a:off x="661475" y="2423220"/>
            <a:ext cx="11478330" cy="181074"/>
          </a:xfrm>
          <a:prstGeom prst="rect">
            <a:avLst/>
          </a:prstGeom>
          <a:noFill/>
        </p:spPr>
        <p:txBody>
          <a:bodyPr wrap="non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14000"/>
              </a:lnSpc>
              <a:buNone/>
            </a:pPr>
            <a:r>
              <a:rPr lang="en-US" sz="1000" b="1">
                <a:solidFill>
                  <a:srgbClr val="404155"/>
                </a:solidFill>
                <a:latin typeface="Nobile Bold" pitchFamily="34" charset="0"/>
                <a:ea typeface="Nobile Bold" pitchFamily="34" charset="-122"/>
                <a:cs typeface="Nobile Bold" pitchFamily="34" charset="-120"/>
              </a:rPr>
              <a:t>Success Rate Summary:</a:t>
            </a:r>
            <a:endParaRPr lang="en-US" sz="1000"/>
          </a:p>
        </p:txBody>
      </p:sp>
      <p:graphicFrame>
        <p:nvGraphicFramePr>
          <p:cNvPr id="10" name="Table 0"/>
          <p:cNvGraphicFramePr>
            <a:graphicFrameLocks noGrp="1"/>
          </p:cNvGraphicFramePr>
          <p:nvPr/>
        </p:nvGraphicFramePr>
        <p:xfrm>
          <a:off x="661475" y="2709366"/>
          <a:ext cx="10868744" cy="1554820"/>
        </p:xfrm>
        <a:graphic>
          <a:graphicData uri="http://schemas.openxmlformats.org/drawingml/2006/table">
            <a:tbl>
              <a:tblPr/>
              <a:tblGrid>
                <a:gridCol w="2717186"/>
                <a:gridCol w="2717186"/>
                <a:gridCol w="2717186"/>
                <a:gridCol w="2717186"/>
              </a:tblGrid>
              <a:tr h="309059">
                <a:tc>
                  <a:txBody>
                    <a:bodyPr wrap="square"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404155"/>
                          </a:solidFill>
                          <a:latin typeface="Nobile" pitchFamily="34" charset="0"/>
                          <a:ea typeface="Nobile" pitchFamily="34" charset="-122"/>
                          <a:cs typeface="Nobile" pitchFamily="34" charset="-120"/>
                        </a:rPr>
                        <a:t>Attack</a:t>
                      </a:r>
                      <a:endParaRPr lang="en-US" sz="1000">
                        <a:latin typeface="Nobile" pitchFamily="34" charset="0"/>
                        <a:ea typeface="Nobile" pitchFamily="34" charset="0"/>
                        <a:cs typeface="Nobile" pitchFamily="34" charset="0"/>
                      </a:endParaRPr>
                    </a:p>
                  </a:txBody>
                  <a:tcPr marL="132903" marR="132903" marT="6350" marB="6350" vert="horz" anchor="ctr">
                    <a:lnL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9F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404155"/>
                          </a:solidFill>
                          <a:latin typeface="Nobile" pitchFamily="34" charset="0"/>
                          <a:ea typeface="Nobile" pitchFamily="34" charset="-122"/>
                          <a:cs typeface="Nobile" pitchFamily="34" charset="-120"/>
                        </a:rPr>
                        <a:t>Access Level</a:t>
                      </a:r>
                      <a:endParaRPr lang="en-US" sz="1000">
                        <a:latin typeface="Nobile" pitchFamily="34" charset="0"/>
                        <a:ea typeface="Nobile" pitchFamily="34" charset="0"/>
                        <a:cs typeface="Nobile" pitchFamily="34" charset="0"/>
                      </a:endParaRPr>
                    </a:p>
                  </a:txBody>
                  <a:tcPr marL="132903" marR="132903" marT="6350" marB="6350" vert="horz" anchor="ctr">
                    <a:lnL w="12700" cap="flat" cmpd="sng" algn="ctr">
                      <a:solidFill>
                        <a:srgbClr val="F9F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9F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404155"/>
                          </a:solidFill>
                          <a:latin typeface="Nobile" pitchFamily="34" charset="0"/>
                          <a:ea typeface="Nobile" pitchFamily="34" charset="-122"/>
                          <a:cs typeface="Nobile" pitchFamily="34" charset="-120"/>
                        </a:rPr>
                        <a:t>Success Rate</a:t>
                      </a:r>
                      <a:endParaRPr lang="en-US" sz="1000">
                        <a:latin typeface="Nobile" pitchFamily="34" charset="0"/>
                        <a:ea typeface="Nobile" pitchFamily="34" charset="0"/>
                        <a:cs typeface="Nobile" pitchFamily="34" charset="0"/>
                      </a:endParaRPr>
                    </a:p>
                  </a:txBody>
                  <a:tcPr marL="132903" marR="132903" marT="6350" marB="6350" vert="horz" anchor="ctr">
                    <a:lnL w="12700" cap="flat" cmpd="sng" algn="ctr">
                      <a:solidFill>
                        <a:srgbClr val="F9F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9F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404155"/>
                          </a:solidFill>
                          <a:latin typeface="Nobile" pitchFamily="34" charset="0"/>
                          <a:ea typeface="Nobile" pitchFamily="34" charset="-122"/>
                          <a:cs typeface="Nobile" pitchFamily="34" charset="-120"/>
                        </a:rPr>
                        <a:t>Severity</a:t>
                      </a:r>
                      <a:endParaRPr lang="en-US" sz="1000">
                        <a:latin typeface="Nobile" pitchFamily="34" charset="0"/>
                        <a:ea typeface="Nobile" pitchFamily="34" charset="0"/>
                        <a:cs typeface="Nobile" pitchFamily="34" charset="0"/>
                      </a:endParaRPr>
                    </a:p>
                  </a:txBody>
                  <a:tcPr marL="132903" marR="132903" marT="6350" marB="6350" vert="horz" anchor="ctr">
                    <a:lnL w="12700" cap="flat" cmpd="sng" algn="ctr">
                      <a:solidFill>
                        <a:srgbClr val="F9F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2234">
                <a:tc>
                  <a:txBody>
                    <a:bodyPr wrap="square"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404155"/>
                          </a:solidFill>
                          <a:latin typeface="Nobile" pitchFamily="34" charset="0"/>
                          <a:ea typeface="Nobile" pitchFamily="34" charset="-122"/>
                          <a:cs typeface="Nobile" pitchFamily="34" charset="-120"/>
                        </a:rPr>
                        <a:t>PGD (white-box)</a:t>
                      </a:r>
                      <a:endParaRPr lang="en-US" sz="1000">
                        <a:latin typeface="Nobile" pitchFamily="34" charset="0"/>
                        <a:ea typeface="Nobile" pitchFamily="34" charset="0"/>
                        <a:cs typeface="Nobile" pitchFamily="34" charset="0"/>
                      </a:endParaRPr>
                    </a:p>
                  </a:txBody>
                  <a:tcPr marL="132903" marR="132903" marT="6350" marB="6350" vert="horz" anchor="ctr">
                    <a:lnL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9F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404155"/>
                          </a:solidFill>
                          <a:latin typeface="Nobile" pitchFamily="34" charset="0"/>
                          <a:ea typeface="Nobile" pitchFamily="34" charset="-122"/>
                          <a:cs typeface="Nobile" pitchFamily="34" charset="-120"/>
                        </a:rPr>
                        <a:t>Model weights + gradients</a:t>
                      </a:r>
                      <a:endParaRPr lang="en-US" sz="1000">
                        <a:latin typeface="Nobile" pitchFamily="34" charset="0"/>
                        <a:ea typeface="Nobile" pitchFamily="34" charset="0"/>
                        <a:cs typeface="Nobile" pitchFamily="34" charset="0"/>
                      </a:endParaRPr>
                    </a:p>
                  </a:txBody>
                  <a:tcPr marL="132903" marR="132903" marT="6350" marB="6350" vert="horz" anchor="ctr">
                    <a:lnL w="12700" cap="flat" cmpd="sng" algn="ctr">
                      <a:solidFill>
                        <a:srgbClr val="F9F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9F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404155"/>
                          </a:solidFill>
                          <a:latin typeface="Nobile" pitchFamily="34" charset="0"/>
                          <a:ea typeface="Nobile" pitchFamily="34" charset="-122"/>
                          <a:cs typeface="Nobile" pitchFamily="34" charset="-120"/>
                        </a:rPr>
                        <a:t>100%</a:t>
                      </a:r>
                      <a:endParaRPr lang="en-US" sz="1000">
                        <a:latin typeface="Nobile" pitchFamily="34" charset="0"/>
                        <a:ea typeface="Nobile" pitchFamily="34" charset="0"/>
                        <a:cs typeface="Nobile" pitchFamily="34" charset="0"/>
                      </a:endParaRPr>
                    </a:p>
                  </a:txBody>
                  <a:tcPr marL="132903" marR="132903" marT="6350" marB="6350" vert="horz" anchor="ctr">
                    <a:lnL w="12700" cap="flat" cmpd="sng" algn="ctr">
                      <a:solidFill>
                        <a:srgbClr val="F9F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9F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404155"/>
                          </a:solidFill>
                          <a:latin typeface="Nobile" pitchFamily="34" charset="0"/>
                          <a:ea typeface="Nobile" pitchFamily="34" charset="-122"/>
                          <a:cs typeface="Nobile" pitchFamily="34" charset="-120"/>
                        </a:rPr>
                        <a:t>CRITICAL</a:t>
                      </a:r>
                      <a:endParaRPr lang="en-US" sz="1000">
                        <a:latin typeface="Nobile" pitchFamily="34" charset="0"/>
                        <a:ea typeface="Nobile" pitchFamily="34" charset="0"/>
                        <a:cs typeface="Nobile" pitchFamily="34" charset="0"/>
                      </a:endParaRPr>
                    </a:p>
                  </a:txBody>
                  <a:tcPr marL="132903" marR="132903" marT="6350" marB="6350" vert="horz" anchor="ctr">
                    <a:lnL w="12700" cap="flat" cmpd="sng" algn="ctr">
                      <a:solidFill>
                        <a:srgbClr val="F9F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2234">
                <a:tc>
                  <a:txBody>
                    <a:bodyPr wrap="square"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404155"/>
                          </a:solidFill>
                          <a:latin typeface="Nobile" pitchFamily="34" charset="0"/>
                          <a:ea typeface="Nobile" pitchFamily="34" charset="-122"/>
                          <a:cs typeface="Nobile" pitchFamily="34" charset="-120"/>
                        </a:rPr>
                        <a:t>FGSM (white-box)</a:t>
                      </a:r>
                      <a:endParaRPr lang="en-US" sz="1000">
                        <a:latin typeface="Nobile" pitchFamily="34" charset="0"/>
                        <a:ea typeface="Nobile" pitchFamily="34" charset="0"/>
                        <a:cs typeface="Nobile" pitchFamily="34" charset="0"/>
                      </a:endParaRPr>
                    </a:p>
                  </a:txBody>
                  <a:tcPr marL="132903" marR="132903" marT="6350" marB="6350" vert="horz" anchor="ctr">
                    <a:lnL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9F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404155"/>
                          </a:solidFill>
                          <a:latin typeface="Nobile" pitchFamily="34" charset="0"/>
                          <a:ea typeface="Nobile" pitchFamily="34" charset="-122"/>
                          <a:cs typeface="Nobile" pitchFamily="34" charset="-120"/>
                        </a:rPr>
                        <a:t>Model weights + gradients</a:t>
                      </a:r>
                      <a:endParaRPr lang="en-US" sz="1000">
                        <a:latin typeface="Nobile" pitchFamily="34" charset="0"/>
                        <a:ea typeface="Nobile" pitchFamily="34" charset="0"/>
                        <a:cs typeface="Nobile" pitchFamily="34" charset="0"/>
                      </a:endParaRPr>
                    </a:p>
                  </a:txBody>
                  <a:tcPr marL="132903" marR="132903" marT="6350" marB="6350" vert="horz" anchor="ctr">
                    <a:lnL w="12700" cap="flat" cmpd="sng" algn="ctr">
                      <a:solidFill>
                        <a:srgbClr val="F9F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9F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404155"/>
                          </a:solidFill>
                          <a:latin typeface="Nobile" pitchFamily="34" charset="0"/>
                          <a:ea typeface="Nobile" pitchFamily="34" charset="-122"/>
                          <a:cs typeface="Nobile" pitchFamily="34" charset="-120"/>
                        </a:rPr>
                        <a:t>92%</a:t>
                      </a:r>
                      <a:endParaRPr lang="en-US" sz="1000">
                        <a:latin typeface="Nobile" pitchFamily="34" charset="0"/>
                        <a:ea typeface="Nobile" pitchFamily="34" charset="0"/>
                        <a:cs typeface="Nobile" pitchFamily="34" charset="0"/>
                      </a:endParaRPr>
                    </a:p>
                  </a:txBody>
                  <a:tcPr marL="132903" marR="132903" marT="6350" marB="6350" vert="horz" anchor="ctr">
                    <a:lnL w="12700" cap="flat" cmpd="sng" algn="ctr">
                      <a:solidFill>
                        <a:srgbClr val="F9F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9F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404155"/>
                          </a:solidFill>
                          <a:latin typeface="Nobile" pitchFamily="34" charset="0"/>
                          <a:ea typeface="Nobile" pitchFamily="34" charset="-122"/>
                          <a:cs typeface="Nobile" pitchFamily="34" charset="-120"/>
                        </a:rPr>
                        <a:t>CRITICAL</a:t>
                      </a:r>
                      <a:endParaRPr lang="en-US" sz="1000">
                        <a:latin typeface="Nobile" pitchFamily="34" charset="0"/>
                        <a:ea typeface="Nobile" pitchFamily="34" charset="0"/>
                        <a:cs typeface="Nobile" pitchFamily="34" charset="0"/>
                      </a:endParaRPr>
                    </a:p>
                  </a:txBody>
                  <a:tcPr marL="132903" marR="132903" marT="6350" marB="6350" vert="horz" anchor="ctr">
                    <a:lnL w="12700" cap="flat" cmpd="sng" algn="ctr">
                      <a:solidFill>
                        <a:srgbClr val="F9F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2234">
                <a:tc>
                  <a:txBody>
                    <a:bodyPr wrap="square"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404155"/>
                          </a:solidFill>
                          <a:latin typeface="Nobile" pitchFamily="34" charset="0"/>
                          <a:ea typeface="Nobile" pitchFamily="34" charset="-122"/>
                          <a:cs typeface="Nobile" pitchFamily="34" charset="-120"/>
                        </a:rPr>
                        <a:t>Square (black-box)</a:t>
                      </a:r>
                      <a:endParaRPr lang="en-US" sz="1000">
                        <a:latin typeface="Nobile" pitchFamily="34" charset="0"/>
                        <a:ea typeface="Nobile" pitchFamily="34" charset="0"/>
                        <a:cs typeface="Nobile" pitchFamily="34" charset="0"/>
                      </a:endParaRPr>
                    </a:p>
                  </a:txBody>
                  <a:tcPr marL="132903" marR="132903" marT="6350" marB="6350" vert="horz" anchor="ctr">
                    <a:lnL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9F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404155"/>
                          </a:solidFill>
                          <a:latin typeface="Nobile" pitchFamily="34" charset="0"/>
                          <a:ea typeface="Nobile" pitchFamily="34" charset="-122"/>
                          <a:cs typeface="Nobile" pitchFamily="34" charset="-120"/>
                        </a:rPr>
                        <a:t>API queries only</a:t>
                      </a:r>
                      <a:endParaRPr lang="en-US" sz="1000">
                        <a:latin typeface="Nobile" pitchFamily="34" charset="0"/>
                        <a:ea typeface="Nobile" pitchFamily="34" charset="0"/>
                        <a:cs typeface="Nobile" pitchFamily="34" charset="0"/>
                      </a:endParaRPr>
                    </a:p>
                  </a:txBody>
                  <a:tcPr marL="132903" marR="132903" marT="6350" marB="6350" vert="horz" anchor="ctr">
                    <a:lnL w="12700" cap="flat" cmpd="sng" algn="ctr">
                      <a:solidFill>
                        <a:srgbClr val="F9F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9F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404155"/>
                          </a:solidFill>
                          <a:latin typeface="Nobile" pitchFamily="34" charset="0"/>
                          <a:ea typeface="Nobile" pitchFamily="34" charset="-122"/>
                          <a:cs typeface="Nobile" pitchFamily="34" charset="-120"/>
                        </a:rPr>
                        <a:t>87%</a:t>
                      </a:r>
                      <a:endParaRPr lang="en-US" sz="1000">
                        <a:latin typeface="Nobile" pitchFamily="34" charset="0"/>
                        <a:ea typeface="Nobile" pitchFamily="34" charset="0"/>
                        <a:cs typeface="Nobile" pitchFamily="34" charset="0"/>
                      </a:endParaRPr>
                    </a:p>
                  </a:txBody>
                  <a:tcPr marL="132903" marR="132903" marT="6350" marB="6350" vert="horz" anchor="ctr">
                    <a:lnL w="12700" cap="flat" cmpd="sng" algn="ctr">
                      <a:solidFill>
                        <a:srgbClr val="F9F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9F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404155"/>
                          </a:solidFill>
                          <a:latin typeface="Nobile" pitchFamily="34" charset="0"/>
                          <a:ea typeface="Nobile" pitchFamily="34" charset="-122"/>
                          <a:cs typeface="Nobile" pitchFamily="34" charset="-120"/>
                        </a:rPr>
                        <a:t>CRITICAL</a:t>
                      </a:r>
                      <a:endParaRPr lang="en-US" sz="1000">
                        <a:latin typeface="Nobile" pitchFamily="34" charset="0"/>
                        <a:ea typeface="Nobile" pitchFamily="34" charset="0"/>
                        <a:cs typeface="Nobile" pitchFamily="34" charset="0"/>
                      </a:endParaRPr>
                    </a:p>
                  </a:txBody>
                  <a:tcPr marL="132903" marR="132903" marT="6350" marB="6350" vert="horz" anchor="ctr">
                    <a:lnL w="12700" cap="flat" cmpd="sng" algn="ctr">
                      <a:solidFill>
                        <a:srgbClr val="F9F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9059">
                <a:tc>
                  <a:txBody>
                    <a:bodyPr wrap="square"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404155"/>
                          </a:solidFill>
                          <a:latin typeface="Nobile" pitchFamily="34" charset="0"/>
                          <a:ea typeface="Nobile" pitchFamily="34" charset="-122"/>
                          <a:cs typeface="Nobile" pitchFamily="34" charset="-120"/>
                        </a:rPr>
                        <a:t>Extraction+Transfer (black-box)</a:t>
                      </a:r>
                      <a:endParaRPr lang="en-US" sz="1000">
                        <a:latin typeface="Nobile" pitchFamily="34" charset="0"/>
                        <a:ea typeface="Nobile" pitchFamily="34" charset="0"/>
                        <a:cs typeface="Nobile" pitchFamily="34" charset="0"/>
                      </a:endParaRPr>
                    </a:p>
                  </a:txBody>
                  <a:tcPr marL="132903" marR="132903" marT="6350" marB="6350" vert="horz" anchor="ctr">
                    <a:lnL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9F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404155"/>
                          </a:solidFill>
                          <a:latin typeface="Nobile" pitchFamily="34" charset="0"/>
                          <a:ea typeface="Nobile" pitchFamily="34" charset="-122"/>
                          <a:cs typeface="Nobile" pitchFamily="34" charset="-120"/>
                        </a:rPr>
                        <a:t>API queries only</a:t>
                      </a:r>
                      <a:endParaRPr lang="en-US" sz="1000">
                        <a:latin typeface="Nobile" pitchFamily="34" charset="0"/>
                        <a:ea typeface="Nobile" pitchFamily="34" charset="0"/>
                        <a:cs typeface="Nobile" pitchFamily="34" charset="0"/>
                      </a:endParaRPr>
                    </a:p>
                  </a:txBody>
                  <a:tcPr marL="132903" marR="132903" marT="6350" marB="6350" vert="horz" anchor="ctr">
                    <a:lnL w="12700" cap="flat" cmpd="sng" algn="ctr">
                      <a:solidFill>
                        <a:srgbClr val="F9F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9F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404155"/>
                          </a:solidFill>
                          <a:latin typeface="Nobile" pitchFamily="34" charset="0"/>
                          <a:ea typeface="Nobile" pitchFamily="34" charset="-122"/>
                          <a:cs typeface="Nobile" pitchFamily="34" charset="-120"/>
                        </a:rPr>
                        <a:t>80%</a:t>
                      </a:r>
                      <a:endParaRPr lang="en-US" sz="1000">
                        <a:latin typeface="Nobile" pitchFamily="34" charset="0"/>
                        <a:ea typeface="Nobile" pitchFamily="34" charset="0"/>
                        <a:cs typeface="Nobile" pitchFamily="34" charset="0"/>
                      </a:endParaRPr>
                    </a:p>
                  </a:txBody>
                  <a:tcPr marL="132903" marR="132903" marT="6350" marB="6350" vert="horz" anchor="ctr">
                    <a:lnL w="12700" cap="flat" cmpd="sng" algn="ctr">
                      <a:solidFill>
                        <a:srgbClr val="F9F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9F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404155"/>
                          </a:solidFill>
                          <a:latin typeface="Nobile" pitchFamily="34" charset="0"/>
                          <a:ea typeface="Nobile" pitchFamily="34" charset="-122"/>
                          <a:cs typeface="Nobile" pitchFamily="34" charset="-120"/>
                        </a:rPr>
                        <a:t>CRITICAL</a:t>
                      </a:r>
                      <a:endParaRPr lang="en-US" sz="1000">
                        <a:latin typeface="Nobile" pitchFamily="34" charset="0"/>
                        <a:ea typeface="Nobile" pitchFamily="34" charset="0"/>
                        <a:cs typeface="Nobile" pitchFamily="34" charset="0"/>
                      </a:endParaRPr>
                    </a:p>
                  </a:txBody>
                  <a:tcPr marL="132903" marR="132903" marT="6350" marB="6350" vert="horz" anchor="ctr">
                    <a:lnL w="12700" cap="flat" cmpd="sng" algn="ctr">
                      <a:solidFill>
                        <a:srgbClr val="F9F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61475" y="4381996"/>
            <a:ext cx="11478330" cy="181074"/>
          </a:xfrm>
          <a:prstGeom prst="rect">
            <a:avLst/>
          </a:prstGeom>
          <a:noFill/>
        </p:spPr>
        <p:txBody>
          <a:bodyPr wrap="non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14000"/>
              </a:lnSpc>
              <a:buNone/>
            </a:pPr>
            <a:r>
              <a:rPr lang="en-US" sz="1000" b="1">
                <a:solidFill>
                  <a:srgbClr val="404155"/>
                </a:solidFill>
                <a:latin typeface="Nobile Bold" pitchFamily="34" charset="0"/>
                <a:ea typeface="Nobile Bold" pitchFamily="34" charset="-122"/>
                <a:cs typeface="Nobile Bold" pitchFamily="34" charset="-120"/>
              </a:rPr>
              <a:t>Key Insight:</a:t>
            </a:r>
            <a:r>
              <a:rPr lang="en-US" sz="1000">
                <a:solidFill>
                  <a:srgbClr val="404155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 Gap between white-box (100%) and black-box (80-87%) is narrow</a:t>
            </a:r>
            <a:endParaRPr lang="en-US" sz="1000"/>
          </a:p>
        </p:txBody>
      </p:sp>
      <p:sp>
        <p:nvSpPr>
          <p:cNvPr id="7" name="Text 4"/>
          <p:cNvSpPr/>
          <p:nvPr/>
        </p:nvSpPr>
        <p:spPr>
          <a:xfrm>
            <a:off x="661475" y="4668143"/>
            <a:ext cx="10868745" cy="394791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03200" indent="-203200" algn="l">
              <a:lnSpc>
                <a:spcPct val="114000"/>
              </a:lnSpc>
              <a:buSzTx/>
              <a:buChar char="•"/>
            </a:pPr>
            <a:r>
              <a:rPr lang="en-US" sz="1000">
                <a:solidFill>
                  <a:srgbClr val="404155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Black-box attacks are practical, not theoretical</a:t>
            </a:r>
            <a:endParaRPr lang="en-US" sz="1000"/>
          </a:p>
          <a:p>
            <a:pPr marL="203200" indent="-203200" algn="l">
              <a:lnSpc>
                <a:spcPct val="114000"/>
              </a:lnSpc>
              <a:buSzTx/>
              <a:buChar char="•"/>
            </a:pPr>
            <a:r>
              <a:rPr lang="en-US" sz="1000">
                <a:solidFill>
                  <a:srgbClr val="404155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API access is sufficient for high-success attacks</a:t>
            </a:r>
            <a:endParaRPr lang="en-US" sz="1000"/>
          </a:p>
        </p:txBody>
      </p:sp>
      <p:sp>
        <p:nvSpPr>
          <p:cNvPr id="8" name="Text 5"/>
          <p:cNvSpPr/>
          <p:nvPr/>
        </p:nvSpPr>
        <p:spPr>
          <a:xfrm>
            <a:off x="661475" y="5168007"/>
            <a:ext cx="11478330" cy="181074"/>
          </a:xfrm>
          <a:prstGeom prst="rect">
            <a:avLst/>
          </a:prstGeom>
          <a:noFill/>
        </p:spPr>
        <p:txBody>
          <a:bodyPr wrap="non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14000"/>
              </a:lnSpc>
              <a:buNone/>
            </a:pPr>
            <a:r>
              <a:rPr lang="en-US" sz="1000" b="1">
                <a:solidFill>
                  <a:srgbClr val="404155"/>
                </a:solidFill>
                <a:latin typeface="Nobile Bold" pitchFamily="34" charset="0"/>
                <a:ea typeface="Nobile Bold" pitchFamily="34" charset="-122"/>
                <a:cs typeface="Nobile Bold" pitchFamily="34" charset="-120"/>
              </a:rPr>
              <a:t>Threat Realism Ranking:</a:t>
            </a:r>
            <a:endParaRPr lang="en-US" sz="1000"/>
          </a:p>
        </p:txBody>
      </p:sp>
      <p:sp>
        <p:nvSpPr>
          <p:cNvPr id="9" name="Text 6"/>
          <p:cNvSpPr/>
          <p:nvPr/>
        </p:nvSpPr>
        <p:spPr>
          <a:xfrm>
            <a:off x="661475" y="5454154"/>
            <a:ext cx="10868745" cy="822226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03200" indent="-203200" algn="l">
              <a:lnSpc>
                <a:spcPct val="114000"/>
              </a:lnSpc>
              <a:buSzTx/>
              <a:buFont typeface="+mj-lt"/>
              <a:buAutoNum type="arabicPeriod"/>
            </a:pPr>
            <a:r>
              <a:rPr lang="en-US" sz="1000">
                <a:solidFill>
                  <a:srgbClr val="404155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Model extraction (most realistic: API-only, 10-min setup)</a:t>
            </a:r>
            <a:endParaRPr lang="en-US" sz="1000"/>
          </a:p>
          <a:p>
            <a:pPr marL="203200" indent="-203200" algn="l">
              <a:lnSpc>
                <a:spcPct val="114000"/>
              </a:lnSpc>
              <a:buSzTx/>
              <a:buFont typeface="+mj-lt"/>
              <a:buAutoNum type="arabicPeriod" startAt="2"/>
            </a:pPr>
            <a:r>
              <a:rPr lang="en-US" sz="1000">
                <a:solidFill>
                  <a:srgbClr val="404155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Square Attack (highly realistic: query-based, no model access)</a:t>
            </a:r>
            <a:endParaRPr lang="en-US" sz="1000"/>
          </a:p>
          <a:p>
            <a:pPr marL="203200" indent="-203200" algn="l">
              <a:lnSpc>
                <a:spcPct val="114000"/>
              </a:lnSpc>
              <a:buSzTx/>
              <a:buFont typeface="+mj-lt"/>
              <a:buAutoNum type="arabicPeriod" startAt="3"/>
            </a:pPr>
            <a:r>
              <a:rPr lang="en-US" sz="1000">
                <a:solidFill>
                  <a:srgbClr val="404155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PGD (moderate: requires stolen weights or insider)</a:t>
            </a:r>
            <a:endParaRPr lang="en-US" sz="1000"/>
          </a:p>
          <a:p>
            <a:pPr marL="203200" indent="-203200" algn="l">
              <a:lnSpc>
                <a:spcPct val="114000"/>
              </a:lnSpc>
              <a:buSzTx/>
              <a:buFont typeface="+mj-lt"/>
              <a:buAutoNum type="arabicPeriod" startAt="4"/>
            </a:pPr>
            <a:r>
              <a:rPr lang="en-US" sz="1000">
                <a:solidFill>
                  <a:srgbClr val="404155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FGSM (baseline: simplest attack, high success)</a:t>
            </a:r>
            <a:endParaRPr lang="en-US" sz="1000"/>
          </a:p>
        </p:txBody>
      </p:sp>
    </p:spTree>
  </p:cSld>
  <p:clrMapOvr>
    <a:masterClrMapping/>
  </p:clrMapOvr>
  <p:transition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46695"/>
            <a:ext cx="10868745" cy="553740"/>
          </a:xfrm>
          <a:prstGeom prst="rect">
            <a:avLst/>
          </a:prstGeom>
          <a:noFill/>
        </p:spPr>
        <p:txBody>
          <a:bodyPr wrap="non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04000"/>
              </a:lnSpc>
              <a:buNone/>
            </a:pPr>
            <a:r>
              <a:rPr lang="en-US" sz="3450">
                <a:solidFill>
                  <a:srgbClr val="1B1B27"/>
                </a:solidFill>
                <a:latin typeface="Alexandria" pitchFamily="34" charset="0"/>
                <a:ea typeface="Alexandria" pitchFamily="34" charset="-122"/>
                <a:cs typeface="Alexandria" pitchFamily="34" charset="-120"/>
              </a:rPr>
              <a:t>Root Cause Analysis</a:t>
            </a:r>
            <a:endParaRPr lang="en-US" sz="3450"/>
          </a:p>
        </p:txBody>
      </p:sp>
      <p:sp>
        <p:nvSpPr>
          <p:cNvPr id="3" name="Text 1"/>
          <p:cNvSpPr/>
          <p:nvPr/>
        </p:nvSpPr>
        <p:spPr>
          <a:xfrm>
            <a:off x="661475" y="1349573"/>
            <a:ext cx="10868745" cy="2292548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04000"/>
              </a:lnSpc>
              <a:buNone/>
            </a:pPr>
            <a:r>
              <a:rPr lang="en-US" sz="4800">
                <a:solidFill>
                  <a:srgbClr val="1B1B27"/>
                </a:solidFill>
                <a:latin typeface="Alexandria" pitchFamily="34" charset="0"/>
                <a:ea typeface="Alexandria" pitchFamily="34" charset="-122"/>
                <a:cs typeface="Alexandria" pitchFamily="34" charset="-120"/>
              </a:rPr>
              <a:t>Model has zero adversarial robustness by design—not trained to resist attacks</a:t>
            </a:r>
            <a:endParaRPr lang="en-US" sz="4800"/>
          </a:p>
        </p:txBody>
      </p:sp>
      <p:sp>
        <p:nvSpPr>
          <p:cNvPr id="4" name="Text 2"/>
          <p:cNvSpPr/>
          <p:nvPr/>
        </p:nvSpPr>
        <p:spPr>
          <a:xfrm>
            <a:off x="661475" y="3891260"/>
            <a:ext cx="11478330" cy="274638"/>
          </a:xfrm>
          <a:prstGeom prst="rect">
            <a:avLst/>
          </a:prstGeom>
          <a:noFill/>
        </p:spPr>
        <p:txBody>
          <a:bodyPr wrap="non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29000"/>
              </a:lnSpc>
              <a:buNone/>
            </a:pPr>
            <a:r>
              <a:rPr lang="en-US" sz="1350" b="1">
                <a:solidFill>
                  <a:srgbClr val="404155"/>
                </a:solidFill>
                <a:latin typeface="Nobile Bold" pitchFamily="34" charset="0"/>
                <a:ea typeface="Nobile Bold" pitchFamily="34" charset="-122"/>
                <a:cs typeface="Nobile Bold" pitchFamily="34" charset="-120"/>
              </a:rPr>
              <a:t>Why Is The Model Vulnerable?</a:t>
            </a:r>
            <a:endParaRPr lang="en-US" sz="1350"/>
          </a:p>
        </p:txBody>
      </p:sp>
      <p:sp>
        <p:nvSpPr>
          <p:cNvPr id="5" name="Shape 3"/>
          <p:cNvSpPr/>
          <p:nvPr/>
        </p:nvSpPr>
        <p:spPr>
          <a:xfrm>
            <a:off x="661475" y="4352727"/>
            <a:ext cx="5351329" cy="1958479"/>
          </a:xfrm>
          <a:prstGeom prst="roundRect">
            <a:avLst>
              <a:gd name="adj" fmla="val 3800"/>
            </a:avLst>
          </a:prstGeom>
          <a:solidFill>
            <a:srgbClr val="D2DDF9"/>
          </a:solidFill>
          <a:ln w="6350">
            <a:solidFill>
              <a:srgbClr val="B8C3DF"/>
            </a:solidFill>
            <a:prstDash val="solid"/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/>
        </p:txBody>
      </p:sp>
      <p:sp>
        <p:nvSpPr>
          <p:cNvPr id="6" name="Text 4"/>
          <p:cNvSpPr/>
          <p:nvPr/>
        </p:nvSpPr>
        <p:spPr>
          <a:xfrm>
            <a:off x="845025" y="4536281"/>
            <a:ext cx="4984228" cy="276920"/>
          </a:xfrm>
          <a:prstGeom prst="rect">
            <a:avLst/>
          </a:prstGeom>
          <a:noFill/>
        </p:spPr>
        <p:txBody>
          <a:bodyPr wrap="non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04000"/>
              </a:lnSpc>
              <a:buNone/>
            </a:pPr>
            <a:r>
              <a:rPr lang="en-US" sz="1700">
                <a:solidFill>
                  <a:srgbClr val="404155"/>
                </a:solidFill>
                <a:latin typeface="Alexandria" pitchFamily="34" charset="0"/>
                <a:ea typeface="Alexandria" pitchFamily="34" charset="-122"/>
                <a:cs typeface="Alexandria" pitchFamily="34" charset="-120"/>
              </a:rPr>
              <a:t>1. No Adversarial Training</a:t>
            </a:r>
            <a:endParaRPr lang="en-US" sz="1700"/>
          </a:p>
        </p:txBody>
      </p:sp>
      <p:sp>
        <p:nvSpPr>
          <p:cNvPr id="7" name="Text 5"/>
          <p:cNvSpPr/>
          <p:nvPr/>
        </p:nvSpPr>
        <p:spPr>
          <a:xfrm>
            <a:off x="845025" y="4912816"/>
            <a:ext cx="4984228" cy="1214834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74320" indent="-274320" algn="l">
              <a:lnSpc>
                <a:spcPct val="129000"/>
              </a:lnSpc>
              <a:buSzTx/>
              <a:buChar char="•"/>
            </a:pPr>
            <a:r>
              <a:rPr lang="en-US" sz="1350">
                <a:solidFill>
                  <a:srgbClr val="404155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Trained only on clean data</a:t>
            </a:r>
            <a:endParaRPr lang="en-US" sz="1350"/>
          </a:p>
          <a:p>
            <a:pPr marL="274320" indent="-274320" algn="l">
              <a:lnSpc>
                <a:spcPct val="129000"/>
              </a:lnSpc>
              <a:buSzTx/>
              <a:buChar char="•"/>
            </a:pPr>
            <a:r>
              <a:rPr lang="en-US" sz="1350">
                <a:solidFill>
                  <a:srgbClr val="404155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Never exposed to adversarial examples</a:t>
            </a:r>
            <a:endParaRPr lang="en-US" sz="1350"/>
          </a:p>
          <a:p>
            <a:pPr marL="274320" indent="-274320" algn="l">
              <a:lnSpc>
                <a:spcPct val="129000"/>
              </a:lnSpc>
              <a:buSzTx/>
              <a:buChar char="•"/>
            </a:pPr>
            <a:r>
              <a:rPr lang="en-US" sz="1350">
                <a:solidFill>
                  <a:srgbClr val="404155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Decision boundaries optimized for accuracy, not robustness</a:t>
            </a:r>
            <a:endParaRPr lang="en-US" sz="1350"/>
          </a:p>
        </p:txBody>
      </p:sp>
      <p:sp>
        <p:nvSpPr>
          <p:cNvPr id="8" name="Shape 6"/>
          <p:cNvSpPr/>
          <p:nvPr/>
        </p:nvSpPr>
        <p:spPr>
          <a:xfrm>
            <a:off x="6178892" y="4352727"/>
            <a:ext cx="5351329" cy="1958479"/>
          </a:xfrm>
          <a:prstGeom prst="roundRect">
            <a:avLst>
              <a:gd name="adj" fmla="val 3800"/>
            </a:avLst>
          </a:prstGeom>
          <a:solidFill>
            <a:srgbClr val="D2DDF9"/>
          </a:solidFill>
          <a:ln w="6350">
            <a:solidFill>
              <a:srgbClr val="B8C3DF"/>
            </a:solidFill>
            <a:prstDash val="solid"/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/>
        </p:txBody>
      </p:sp>
      <p:sp>
        <p:nvSpPr>
          <p:cNvPr id="9" name="Text 7"/>
          <p:cNvSpPr/>
          <p:nvPr/>
        </p:nvSpPr>
        <p:spPr>
          <a:xfrm>
            <a:off x="6362442" y="4536281"/>
            <a:ext cx="4984228" cy="276920"/>
          </a:xfrm>
          <a:prstGeom prst="rect">
            <a:avLst/>
          </a:prstGeom>
          <a:noFill/>
        </p:spPr>
        <p:txBody>
          <a:bodyPr wrap="non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04000"/>
              </a:lnSpc>
              <a:buNone/>
            </a:pPr>
            <a:r>
              <a:rPr lang="en-US" sz="1700">
                <a:solidFill>
                  <a:srgbClr val="404155"/>
                </a:solidFill>
                <a:latin typeface="Alexandria" pitchFamily="34" charset="0"/>
                <a:ea typeface="Alexandria" pitchFamily="34" charset="-122"/>
                <a:cs typeface="Alexandria" pitchFamily="34" charset="-120"/>
              </a:rPr>
              <a:t>2. No Input Validation</a:t>
            </a:r>
            <a:endParaRPr lang="en-US" sz="1700"/>
          </a:p>
        </p:txBody>
      </p:sp>
      <p:sp>
        <p:nvSpPr>
          <p:cNvPr id="10" name="Text 8"/>
          <p:cNvSpPr/>
          <p:nvPr/>
        </p:nvSpPr>
        <p:spPr>
          <a:xfrm>
            <a:off x="6362442" y="4912816"/>
            <a:ext cx="4984228" cy="940197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74320" indent="-274320" algn="l">
              <a:lnSpc>
                <a:spcPct val="129000"/>
              </a:lnSpc>
              <a:buSzTx/>
              <a:buChar char="•"/>
            </a:pPr>
            <a:r>
              <a:rPr lang="en-US" sz="1350">
                <a:solidFill>
                  <a:srgbClr val="404155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API accepts all valid images</a:t>
            </a:r>
            <a:endParaRPr lang="en-US" sz="1350"/>
          </a:p>
          <a:p>
            <a:pPr marL="274320" indent="-274320" algn="l">
              <a:lnSpc>
                <a:spcPct val="129000"/>
              </a:lnSpc>
              <a:buSzTx/>
              <a:buChar char="•"/>
            </a:pPr>
            <a:r>
              <a:rPr lang="en-US" sz="1350">
                <a:solidFill>
                  <a:srgbClr val="404155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No adversarial detection</a:t>
            </a:r>
            <a:endParaRPr lang="en-US" sz="1350"/>
          </a:p>
          <a:p>
            <a:pPr marL="274320" indent="-274320" algn="l">
              <a:lnSpc>
                <a:spcPct val="129000"/>
              </a:lnSpc>
              <a:buSzTx/>
              <a:buChar char="•"/>
            </a:pPr>
            <a:r>
              <a:rPr lang="en-US" sz="1350">
                <a:solidFill>
                  <a:srgbClr val="404155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No anomaly scoring</a:t>
            </a:r>
            <a:endParaRPr lang="en-US" sz="1350"/>
          </a:p>
        </p:txBody>
      </p:sp>
    </p:spTree>
  </p:cSld>
  <p:clrMapOvr>
    <a:masterClrMapping/>
  </p:clrMapOvr>
  <p:transition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143976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61475" y="2039441"/>
            <a:ext cx="10868745" cy="359866"/>
          </a:xfrm>
          <a:prstGeom prst="rect">
            <a:avLst/>
          </a:prstGeom>
          <a:noFill/>
        </p:spPr>
        <p:txBody>
          <a:bodyPr wrap="non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04000"/>
              </a:lnSpc>
              <a:buNone/>
            </a:pPr>
            <a:r>
              <a:rPr lang="en-US" sz="2250">
                <a:solidFill>
                  <a:srgbClr val="1B1B27"/>
                </a:solidFill>
                <a:latin typeface="Alexandria" pitchFamily="34" charset="0"/>
                <a:ea typeface="Alexandria" pitchFamily="34" charset="-122"/>
                <a:cs typeface="Alexandria" pitchFamily="34" charset="-120"/>
              </a:rPr>
              <a:t>Infrastructure &amp; API Weaknesses</a:t>
            </a:r>
            <a:endParaRPr lang="en-US" sz="2250"/>
          </a:p>
        </p:txBody>
      </p:sp>
      <p:sp>
        <p:nvSpPr>
          <p:cNvPr id="4" name="Text 1"/>
          <p:cNvSpPr/>
          <p:nvPr/>
        </p:nvSpPr>
        <p:spPr>
          <a:xfrm>
            <a:off x="661475" y="2504579"/>
            <a:ext cx="10868745" cy="496689"/>
          </a:xfrm>
          <a:prstGeom prst="rect">
            <a:avLst/>
          </a:prstGeom>
          <a:noFill/>
        </p:spPr>
        <p:txBody>
          <a:bodyPr wrap="non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04000"/>
              </a:lnSpc>
              <a:buNone/>
            </a:pPr>
            <a:r>
              <a:rPr lang="en-US" sz="3100">
                <a:solidFill>
                  <a:srgbClr val="1B1B27"/>
                </a:solidFill>
                <a:latin typeface="Alexandria" pitchFamily="34" charset="0"/>
                <a:ea typeface="Alexandria" pitchFamily="34" charset="-122"/>
                <a:cs typeface="Alexandria" pitchFamily="34" charset="-120"/>
              </a:rPr>
              <a:t>Pipeline security gaps amplify model vulnerabilities</a:t>
            </a:r>
            <a:endParaRPr lang="en-US" sz="3100"/>
          </a:p>
        </p:txBody>
      </p:sp>
      <p:sp>
        <p:nvSpPr>
          <p:cNvPr id="5" name="Text 2"/>
          <p:cNvSpPr/>
          <p:nvPr/>
        </p:nvSpPr>
        <p:spPr>
          <a:xfrm>
            <a:off x="661475" y="3106539"/>
            <a:ext cx="10868745" cy="287933"/>
          </a:xfrm>
          <a:prstGeom prst="rect">
            <a:avLst/>
          </a:prstGeom>
          <a:noFill/>
        </p:spPr>
        <p:txBody>
          <a:bodyPr wrap="non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04000"/>
              </a:lnSpc>
              <a:buNone/>
            </a:pPr>
            <a:r>
              <a:rPr lang="en-US" sz="1800">
                <a:solidFill>
                  <a:srgbClr val="1B1B27"/>
                </a:solidFill>
                <a:latin typeface="Alexandria" pitchFamily="34" charset="0"/>
                <a:ea typeface="Alexandria" pitchFamily="34" charset="-122"/>
                <a:cs typeface="Alexandria" pitchFamily="34" charset="-120"/>
              </a:rPr>
              <a:t>Critical Findings:</a:t>
            </a:r>
            <a:endParaRPr lang="en-US" sz="1800"/>
          </a:p>
        </p:txBody>
      </p:sp>
      <p:graphicFrame>
        <p:nvGraphicFramePr>
          <p:cNvPr id="6" name="Table 0"/>
          <p:cNvGraphicFramePr>
            <a:graphicFrameLocks noGrp="1"/>
          </p:cNvGraphicFramePr>
          <p:nvPr/>
        </p:nvGraphicFramePr>
        <p:xfrm>
          <a:off x="661475" y="3499743"/>
          <a:ext cx="10868744" cy="1753548"/>
        </p:xfrm>
        <a:graphic>
          <a:graphicData uri="http://schemas.openxmlformats.org/drawingml/2006/table">
            <a:tbl>
              <a:tblPr/>
              <a:tblGrid>
                <a:gridCol w="2717186"/>
                <a:gridCol w="2717186"/>
                <a:gridCol w="2717186"/>
                <a:gridCol w="2717186"/>
              </a:tblGrid>
              <a:tr h="248239">
                <a:tc>
                  <a:txBody>
                    <a:bodyPr wrap="square"/>
                    <a:lstStyle/>
                    <a:p>
                      <a:pPr marL="0" indent="0" algn="l">
                        <a:buNone/>
                      </a:pPr>
                      <a:r>
                        <a:rPr lang="en-US" sz="900" b="1">
                          <a:solidFill>
                            <a:srgbClr val="404155"/>
                          </a:solidFill>
                          <a:latin typeface="Nobile" pitchFamily="34" charset="0"/>
                          <a:ea typeface="Nobile" pitchFamily="34" charset="-122"/>
                          <a:cs typeface="Nobile" pitchFamily="34" charset="-120"/>
                        </a:rPr>
                        <a:t>ID</a:t>
                      </a:r>
                      <a:endParaRPr lang="en-US" sz="900">
                        <a:latin typeface="Nobile" pitchFamily="34" charset="0"/>
                        <a:ea typeface="Nobile" pitchFamily="34" charset="0"/>
                        <a:cs typeface="Nobile" pitchFamily="34" charset="0"/>
                      </a:endParaRPr>
                    </a:p>
                  </a:txBody>
                  <a:tcPr marL="115183" marR="115183" marT="6350" marB="6350" vert="horz" anchor="ctr">
                    <a:lnL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buNone/>
                      </a:pPr>
                      <a:r>
                        <a:rPr lang="en-US" sz="900" b="1">
                          <a:solidFill>
                            <a:srgbClr val="404155"/>
                          </a:solidFill>
                          <a:latin typeface="Nobile" pitchFamily="34" charset="0"/>
                          <a:ea typeface="Nobile" pitchFamily="34" charset="-122"/>
                          <a:cs typeface="Nobile" pitchFamily="34" charset="-120"/>
                        </a:rPr>
                        <a:t>Vulnerability</a:t>
                      </a:r>
                      <a:endParaRPr lang="en-US" sz="900">
                        <a:latin typeface="Nobile" pitchFamily="34" charset="0"/>
                        <a:ea typeface="Nobile" pitchFamily="34" charset="0"/>
                        <a:cs typeface="Nobile" pitchFamily="34" charset="0"/>
                      </a:endParaRPr>
                    </a:p>
                  </a:txBody>
                  <a:tcPr marL="115183" marR="115183" marT="6350" marB="6350" vert="horz" anchor="ctr">
                    <a:lnL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buNone/>
                      </a:pPr>
                      <a:r>
                        <a:rPr lang="en-US" sz="900" b="1">
                          <a:solidFill>
                            <a:srgbClr val="404155"/>
                          </a:solidFill>
                          <a:latin typeface="Nobile" pitchFamily="34" charset="0"/>
                          <a:ea typeface="Nobile" pitchFamily="34" charset="-122"/>
                          <a:cs typeface="Nobile" pitchFamily="34" charset="-120"/>
                        </a:rPr>
                        <a:t>Impact</a:t>
                      </a:r>
                      <a:endParaRPr lang="en-US" sz="900">
                        <a:latin typeface="Nobile" pitchFamily="34" charset="0"/>
                        <a:ea typeface="Nobile" pitchFamily="34" charset="0"/>
                        <a:cs typeface="Nobile" pitchFamily="34" charset="0"/>
                      </a:endParaRPr>
                    </a:p>
                  </a:txBody>
                  <a:tcPr marL="115183" marR="115183" marT="6350" marB="6350" vert="horz" anchor="ctr">
                    <a:lnL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buNone/>
                      </a:pPr>
                      <a:r>
                        <a:rPr lang="en-US" sz="900" b="1">
                          <a:solidFill>
                            <a:srgbClr val="404155"/>
                          </a:solidFill>
                          <a:latin typeface="Nobile" pitchFamily="34" charset="0"/>
                          <a:ea typeface="Nobile" pitchFamily="34" charset="-122"/>
                          <a:cs typeface="Nobile" pitchFamily="34" charset="-120"/>
                        </a:rPr>
                        <a:t>Severity</a:t>
                      </a:r>
                      <a:endParaRPr lang="en-US" sz="900">
                        <a:latin typeface="Nobile" pitchFamily="34" charset="0"/>
                        <a:ea typeface="Nobile" pitchFamily="34" charset="0"/>
                        <a:cs typeface="Nobile" pitchFamily="34" charset="0"/>
                      </a:endParaRPr>
                    </a:p>
                  </a:txBody>
                  <a:tcPr marL="115183" marR="115183" marT="6350" marB="6350" vert="horz" anchor="ctr">
                    <a:lnL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1414">
                <a:tc>
                  <a:txBody>
                    <a:bodyPr wrap="square"/>
                    <a:lstStyle/>
                    <a:p>
                      <a:pPr marL="0" indent="0" algn="l">
                        <a:buNone/>
                      </a:pPr>
                      <a:r>
                        <a:rPr lang="en-US" sz="900">
                          <a:solidFill>
                            <a:srgbClr val="404155"/>
                          </a:solidFill>
                          <a:latin typeface="Nobile" pitchFamily="34" charset="0"/>
                          <a:ea typeface="Nobile" pitchFamily="34" charset="-122"/>
                          <a:cs typeface="Nobile" pitchFamily="34" charset="-120"/>
                        </a:rPr>
                        <a:t>V-01</a:t>
                      </a:r>
                      <a:endParaRPr lang="en-US" sz="900">
                        <a:latin typeface="Nobile" pitchFamily="34" charset="0"/>
                        <a:ea typeface="Nobile" pitchFamily="34" charset="0"/>
                        <a:cs typeface="Nobile" pitchFamily="34" charset="0"/>
                      </a:endParaRPr>
                    </a:p>
                  </a:txBody>
                  <a:tcPr marL="115183" marR="115183" marT="6350" marB="6350" vert="horz" anchor="ctr">
                    <a:lnL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buNone/>
                      </a:pPr>
                      <a:r>
                        <a:rPr lang="en-US" sz="900">
                          <a:solidFill>
                            <a:srgbClr val="404155"/>
                          </a:solidFill>
                          <a:latin typeface="Nobile" pitchFamily="34" charset="0"/>
                          <a:ea typeface="Nobile" pitchFamily="34" charset="-122"/>
                          <a:cs typeface="Nobile" pitchFamily="34" charset="-120"/>
                        </a:rPr>
                        <a:t>No authentication</a:t>
                      </a:r>
                      <a:endParaRPr lang="en-US" sz="900">
                        <a:latin typeface="Nobile" pitchFamily="34" charset="0"/>
                        <a:ea typeface="Nobile" pitchFamily="34" charset="0"/>
                        <a:cs typeface="Nobile" pitchFamily="34" charset="0"/>
                      </a:endParaRPr>
                    </a:p>
                  </a:txBody>
                  <a:tcPr marL="115183" marR="115183" marT="6350" marB="6350" vert="horz" anchor="ctr">
                    <a:lnL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buNone/>
                      </a:pPr>
                      <a:r>
                        <a:rPr lang="en-US" sz="900">
                          <a:solidFill>
                            <a:srgbClr val="404155"/>
                          </a:solidFill>
                          <a:latin typeface="Nobile" pitchFamily="34" charset="0"/>
                          <a:ea typeface="Nobile" pitchFamily="34" charset="-122"/>
                          <a:cs typeface="Nobile" pitchFamily="34" charset="-120"/>
                        </a:rPr>
                        <a:t>Anyone can query model</a:t>
                      </a:r>
                      <a:endParaRPr lang="en-US" sz="900">
                        <a:latin typeface="Nobile" pitchFamily="34" charset="0"/>
                        <a:ea typeface="Nobile" pitchFamily="34" charset="0"/>
                        <a:cs typeface="Nobile" pitchFamily="34" charset="0"/>
                      </a:endParaRPr>
                    </a:p>
                  </a:txBody>
                  <a:tcPr marL="115183" marR="115183" marT="6350" marB="6350" vert="horz" anchor="ctr">
                    <a:lnL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buNone/>
                      </a:pPr>
                      <a:r>
                        <a:rPr lang="en-US" sz="900">
                          <a:solidFill>
                            <a:srgbClr val="404155"/>
                          </a:solidFill>
                          <a:latin typeface="Nobile" pitchFamily="34" charset="0"/>
                          <a:ea typeface="Nobile" pitchFamily="34" charset="-122"/>
                          <a:cs typeface="Nobile" pitchFamily="34" charset="-120"/>
                        </a:rPr>
                        <a:t>CRITICAL</a:t>
                      </a:r>
                      <a:endParaRPr lang="en-US" sz="900">
                        <a:latin typeface="Nobile" pitchFamily="34" charset="0"/>
                        <a:ea typeface="Nobile" pitchFamily="34" charset="0"/>
                        <a:cs typeface="Nobile" pitchFamily="34" charset="0"/>
                      </a:endParaRPr>
                    </a:p>
                  </a:txBody>
                  <a:tcPr marL="115183" marR="115183" marT="6350" marB="6350" vert="horz" anchor="ctr">
                    <a:lnL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1414">
                <a:tc>
                  <a:txBody>
                    <a:bodyPr wrap="square"/>
                    <a:lstStyle/>
                    <a:p>
                      <a:pPr marL="0" indent="0" algn="l">
                        <a:buNone/>
                      </a:pPr>
                      <a:r>
                        <a:rPr lang="en-US" sz="900">
                          <a:solidFill>
                            <a:srgbClr val="404155"/>
                          </a:solidFill>
                          <a:latin typeface="Nobile" pitchFamily="34" charset="0"/>
                          <a:ea typeface="Nobile" pitchFamily="34" charset="-122"/>
                          <a:cs typeface="Nobile" pitchFamily="34" charset="-120"/>
                        </a:rPr>
                        <a:t>V-02</a:t>
                      </a:r>
                      <a:endParaRPr lang="en-US" sz="900">
                        <a:latin typeface="Nobile" pitchFamily="34" charset="0"/>
                        <a:ea typeface="Nobile" pitchFamily="34" charset="0"/>
                        <a:cs typeface="Nobile" pitchFamily="34" charset="0"/>
                      </a:endParaRPr>
                    </a:p>
                  </a:txBody>
                  <a:tcPr marL="115183" marR="115183" marT="6350" marB="6350" vert="horz" anchor="ctr">
                    <a:lnL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buNone/>
                      </a:pPr>
                      <a:r>
                        <a:rPr lang="en-US" sz="900">
                          <a:solidFill>
                            <a:srgbClr val="404155"/>
                          </a:solidFill>
                          <a:latin typeface="Nobile" pitchFamily="34" charset="0"/>
                          <a:ea typeface="Nobile" pitchFamily="34" charset="-122"/>
                          <a:cs typeface="Nobile" pitchFamily="34" charset="-120"/>
                        </a:rPr>
                        <a:t>Full probability exposure</a:t>
                      </a:r>
                      <a:endParaRPr lang="en-US" sz="900">
                        <a:latin typeface="Nobile" pitchFamily="34" charset="0"/>
                        <a:ea typeface="Nobile" pitchFamily="34" charset="0"/>
                        <a:cs typeface="Nobile" pitchFamily="34" charset="0"/>
                      </a:endParaRPr>
                    </a:p>
                  </a:txBody>
                  <a:tcPr marL="115183" marR="115183" marT="6350" marB="6350" vert="horz" anchor="ctr">
                    <a:lnL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buNone/>
                      </a:pPr>
                      <a:r>
                        <a:rPr lang="en-US" sz="900">
                          <a:solidFill>
                            <a:srgbClr val="404155"/>
                          </a:solidFill>
                          <a:latin typeface="Nobile" pitchFamily="34" charset="0"/>
                          <a:ea typeface="Nobile" pitchFamily="34" charset="-122"/>
                          <a:cs typeface="Nobile" pitchFamily="34" charset="-120"/>
                        </a:rPr>
                        <a:t>Enables extraction &amp; Square Attack</a:t>
                      </a:r>
                      <a:endParaRPr lang="en-US" sz="900">
                        <a:latin typeface="Nobile" pitchFamily="34" charset="0"/>
                        <a:ea typeface="Nobile" pitchFamily="34" charset="0"/>
                        <a:cs typeface="Nobile" pitchFamily="34" charset="0"/>
                      </a:endParaRPr>
                    </a:p>
                  </a:txBody>
                  <a:tcPr marL="115183" marR="115183" marT="6350" marB="6350" vert="horz" anchor="ctr">
                    <a:lnL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buNone/>
                      </a:pPr>
                      <a:r>
                        <a:rPr lang="en-US" sz="900">
                          <a:solidFill>
                            <a:srgbClr val="404155"/>
                          </a:solidFill>
                          <a:latin typeface="Nobile" pitchFamily="34" charset="0"/>
                          <a:ea typeface="Nobile" pitchFamily="34" charset="-122"/>
                          <a:cs typeface="Nobile" pitchFamily="34" charset="-120"/>
                        </a:rPr>
                        <a:t>CRITICAL</a:t>
                      </a:r>
                      <a:endParaRPr lang="en-US" sz="900">
                        <a:latin typeface="Nobile" pitchFamily="34" charset="0"/>
                        <a:ea typeface="Nobile" pitchFamily="34" charset="0"/>
                        <a:cs typeface="Nobile" pitchFamily="34" charset="0"/>
                      </a:endParaRPr>
                    </a:p>
                  </a:txBody>
                  <a:tcPr marL="115183" marR="115183" marT="6350" marB="6350" vert="horz" anchor="ctr">
                    <a:lnL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1414">
                <a:tc>
                  <a:txBody>
                    <a:bodyPr wrap="square"/>
                    <a:lstStyle/>
                    <a:p>
                      <a:pPr marL="0" indent="0" algn="l">
                        <a:buNone/>
                      </a:pPr>
                      <a:r>
                        <a:rPr lang="en-US" sz="900">
                          <a:solidFill>
                            <a:srgbClr val="404155"/>
                          </a:solidFill>
                          <a:latin typeface="Nobile" pitchFamily="34" charset="0"/>
                          <a:ea typeface="Nobile" pitchFamily="34" charset="-122"/>
                          <a:cs typeface="Nobile" pitchFamily="34" charset="-120"/>
                        </a:rPr>
                        <a:t>V-03</a:t>
                      </a:r>
                      <a:endParaRPr lang="en-US" sz="900">
                        <a:latin typeface="Nobile" pitchFamily="34" charset="0"/>
                        <a:ea typeface="Nobile" pitchFamily="34" charset="0"/>
                        <a:cs typeface="Nobile" pitchFamily="34" charset="0"/>
                      </a:endParaRPr>
                    </a:p>
                  </a:txBody>
                  <a:tcPr marL="115183" marR="115183" marT="6350" marB="6350" vert="horz" anchor="ctr">
                    <a:lnL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buNone/>
                      </a:pPr>
                      <a:r>
                        <a:rPr lang="en-US" sz="900">
                          <a:solidFill>
                            <a:srgbClr val="404155"/>
                          </a:solidFill>
                          <a:latin typeface="Nobile" pitchFamily="34" charset="0"/>
                          <a:ea typeface="Nobile" pitchFamily="34" charset="-122"/>
                          <a:cs typeface="Nobile" pitchFamily="34" charset="-120"/>
                        </a:rPr>
                        <a:t>Verbose metadata endpoint</a:t>
                      </a:r>
                      <a:endParaRPr lang="en-US" sz="900">
                        <a:latin typeface="Nobile" pitchFamily="34" charset="0"/>
                        <a:ea typeface="Nobile" pitchFamily="34" charset="0"/>
                        <a:cs typeface="Nobile" pitchFamily="34" charset="0"/>
                      </a:endParaRPr>
                    </a:p>
                  </a:txBody>
                  <a:tcPr marL="115183" marR="115183" marT="6350" marB="6350" vert="horz" anchor="ctr">
                    <a:lnL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buNone/>
                      </a:pPr>
                      <a:r>
                        <a:rPr lang="en-US" sz="900">
                          <a:solidFill>
                            <a:srgbClr val="404155"/>
                          </a:solidFill>
                          <a:latin typeface="Nobile" pitchFamily="34" charset="0"/>
                          <a:ea typeface="Nobile" pitchFamily="34" charset="-122"/>
                          <a:cs typeface="Nobile" pitchFamily="34" charset="-120"/>
                        </a:rPr>
                        <a:t>Leaks architecture details</a:t>
                      </a:r>
                      <a:endParaRPr lang="en-US" sz="900">
                        <a:latin typeface="Nobile" pitchFamily="34" charset="0"/>
                        <a:ea typeface="Nobile" pitchFamily="34" charset="0"/>
                        <a:cs typeface="Nobile" pitchFamily="34" charset="0"/>
                      </a:endParaRPr>
                    </a:p>
                  </a:txBody>
                  <a:tcPr marL="115183" marR="115183" marT="6350" marB="6350" vert="horz" anchor="ctr">
                    <a:lnL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buNone/>
                      </a:pPr>
                      <a:r>
                        <a:rPr lang="en-US" sz="900">
                          <a:solidFill>
                            <a:srgbClr val="404155"/>
                          </a:solidFill>
                          <a:latin typeface="Nobile" pitchFamily="34" charset="0"/>
                          <a:ea typeface="Nobile" pitchFamily="34" charset="-122"/>
                          <a:cs typeface="Nobile" pitchFamily="34" charset="-120"/>
                        </a:rPr>
                        <a:t>HIGH</a:t>
                      </a:r>
                      <a:endParaRPr lang="en-US" sz="900">
                        <a:latin typeface="Nobile" pitchFamily="34" charset="0"/>
                        <a:ea typeface="Nobile" pitchFamily="34" charset="0"/>
                        <a:cs typeface="Nobile" pitchFamily="34" charset="0"/>
                      </a:endParaRPr>
                    </a:p>
                  </a:txBody>
                  <a:tcPr marL="115183" marR="115183" marT="6350" marB="6350" vert="horz" anchor="ctr">
                    <a:lnL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1414">
                <a:tc>
                  <a:txBody>
                    <a:bodyPr wrap="square"/>
                    <a:lstStyle/>
                    <a:p>
                      <a:pPr marL="0" indent="0" algn="l">
                        <a:buNone/>
                      </a:pPr>
                      <a:r>
                        <a:rPr lang="en-US" sz="900">
                          <a:solidFill>
                            <a:srgbClr val="404155"/>
                          </a:solidFill>
                          <a:latin typeface="Nobile" pitchFamily="34" charset="0"/>
                          <a:ea typeface="Nobile" pitchFamily="34" charset="-122"/>
                          <a:cs typeface="Nobile" pitchFamily="34" charset="-120"/>
                        </a:rPr>
                        <a:t>V-04</a:t>
                      </a:r>
                      <a:endParaRPr lang="en-US" sz="900">
                        <a:latin typeface="Nobile" pitchFamily="34" charset="0"/>
                        <a:ea typeface="Nobile" pitchFamily="34" charset="0"/>
                        <a:cs typeface="Nobile" pitchFamily="34" charset="0"/>
                      </a:endParaRPr>
                    </a:p>
                  </a:txBody>
                  <a:tcPr marL="115183" marR="115183" marT="6350" marB="6350" vert="horz" anchor="ctr">
                    <a:lnL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buNone/>
                      </a:pPr>
                      <a:r>
                        <a:rPr lang="en-US" sz="900">
                          <a:solidFill>
                            <a:srgbClr val="404155"/>
                          </a:solidFill>
                          <a:latin typeface="Nobile" pitchFamily="34" charset="0"/>
                          <a:ea typeface="Nobile" pitchFamily="34" charset="-122"/>
                          <a:cs typeface="Nobile" pitchFamily="34" charset="-120"/>
                        </a:rPr>
                        <a:t>No rate limiting</a:t>
                      </a:r>
                      <a:endParaRPr lang="en-US" sz="900">
                        <a:latin typeface="Nobile" pitchFamily="34" charset="0"/>
                        <a:ea typeface="Nobile" pitchFamily="34" charset="0"/>
                        <a:cs typeface="Nobile" pitchFamily="34" charset="0"/>
                      </a:endParaRPr>
                    </a:p>
                  </a:txBody>
                  <a:tcPr marL="115183" marR="115183" marT="6350" marB="6350" vert="horz" anchor="ctr">
                    <a:lnL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buNone/>
                      </a:pPr>
                      <a:r>
                        <a:rPr lang="en-US" sz="900">
                          <a:solidFill>
                            <a:srgbClr val="404155"/>
                          </a:solidFill>
                          <a:latin typeface="Nobile" pitchFamily="34" charset="0"/>
                          <a:ea typeface="Nobile" pitchFamily="34" charset="-122"/>
                          <a:cs typeface="Nobile" pitchFamily="34" charset="-120"/>
                        </a:rPr>
                        <a:t>Unlimited queries allowed</a:t>
                      </a:r>
                      <a:endParaRPr lang="en-US" sz="900">
                        <a:latin typeface="Nobile" pitchFamily="34" charset="0"/>
                        <a:ea typeface="Nobile" pitchFamily="34" charset="0"/>
                        <a:cs typeface="Nobile" pitchFamily="34" charset="0"/>
                      </a:endParaRPr>
                    </a:p>
                  </a:txBody>
                  <a:tcPr marL="115183" marR="115183" marT="6350" marB="6350" vert="horz" anchor="ctr">
                    <a:lnL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buNone/>
                      </a:pPr>
                      <a:r>
                        <a:rPr lang="en-US" sz="900">
                          <a:solidFill>
                            <a:srgbClr val="404155"/>
                          </a:solidFill>
                          <a:latin typeface="Nobile" pitchFamily="34" charset="0"/>
                          <a:ea typeface="Nobile" pitchFamily="34" charset="-122"/>
                          <a:cs typeface="Nobile" pitchFamily="34" charset="-120"/>
                        </a:rPr>
                        <a:t>CRITICAL</a:t>
                      </a:r>
                      <a:endParaRPr lang="en-US" sz="900">
                        <a:latin typeface="Nobile" pitchFamily="34" charset="0"/>
                        <a:ea typeface="Nobile" pitchFamily="34" charset="0"/>
                        <a:cs typeface="Nobile" pitchFamily="34" charset="0"/>
                      </a:endParaRPr>
                    </a:p>
                  </a:txBody>
                  <a:tcPr marL="115183" marR="115183" marT="6350" marB="6350" vert="horz" anchor="ctr">
                    <a:lnL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1414">
                <a:tc>
                  <a:txBody>
                    <a:bodyPr wrap="square"/>
                    <a:lstStyle/>
                    <a:p>
                      <a:pPr marL="0" indent="0" algn="l">
                        <a:buNone/>
                      </a:pPr>
                      <a:r>
                        <a:rPr lang="en-US" sz="900">
                          <a:solidFill>
                            <a:srgbClr val="404155"/>
                          </a:solidFill>
                          <a:latin typeface="Nobile" pitchFamily="34" charset="0"/>
                          <a:ea typeface="Nobile" pitchFamily="34" charset="-122"/>
                          <a:cs typeface="Nobile" pitchFamily="34" charset="-120"/>
                        </a:rPr>
                        <a:t>V-05</a:t>
                      </a:r>
                      <a:endParaRPr lang="en-US" sz="900">
                        <a:latin typeface="Nobile" pitchFamily="34" charset="0"/>
                        <a:ea typeface="Nobile" pitchFamily="34" charset="0"/>
                        <a:cs typeface="Nobile" pitchFamily="34" charset="0"/>
                      </a:endParaRPr>
                    </a:p>
                  </a:txBody>
                  <a:tcPr marL="115183" marR="115183" marT="6350" marB="6350" vert="horz" anchor="ctr">
                    <a:lnL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buNone/>
                      </a:pPr>
                      <a:r>
                        <a:rPr lang="en-US" sz="900">
                          <a:solidFill>
                            <a:srgbClr val="404155"/>
                          </a:solidFill>
                          <a:latin typeface="Nobile" pitchFamily="34" charset="0"/>
                          <a:ea typeface="Nobile" pitchFamily="34" charset="-122"/>
                          <a:cs typeface="Nobile" pitchFamily="34" charset="-120"/>
                        </a:rPr>
                        <a:t>No logging/monitoring</a:t>
                      </a:r>
                      <a:endParaRPr lang="en-US" sz="900">
                        <a:latin typeface="Nobile" pitchFamily="34" charset="0"/>
                        <a:ea typeface="Nobile" pitchFamily="34" charset="0"/>
                        <a:cs typeface="Nobile" pitchFamily="34" charset="0"/>
                      </a:endParaRPr>
                    </a:p>
                  </a:txBody>
                  <a:tcPr marL="115183" marR="115183" marT="6350" marB="6350" vert="horz" anchor="ctr">
                    <a:lnL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buNone/>
                      </a:pPr>
                      <a:r>
                        <a:rPr lang="en-US" sz="900">
                          <a:solidFill>
                            <a:srgbClr val="404155"/>
                          </a:solidFill>
                          <a:latin typeface="Nobile" pitchFamily="34" charset="0"/>
                          <a:ea typeface="Nobile" pitchFamily="34" charset="-122"/>
                          <a:cs typeface="Nobile" pitchFamily="34" charset="-120"/>
                        </a:rPr>
                        <a:t>Attacks go undetected</a:t>
                      </a:r>
                      <a:endParaRPr lang="en-US" sz="900">
                        <a:latin typeface="Nobile" pitchFamily="34" charset="0"/>
                        <a:ea typeface="Nobile" pitchFamily="34" charset="0"/>
                        <a:cs typeface="Nobile" pitchFamily="34" charset="0"/>
                      </a:endParaRPr>
                    </a:p>
                  </a:txBody>
                  <a:tcPr marL="115183" marR="115183" marT="6350" marB="6350" vert="horz" anchor="ctr">
                    <a:lnL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buNone/>
                      </a:pPr>
                      <a:r>
                        <a:rPr lang="en-US" sz="900">
                          <a:solidFill>
                            <a:srgbClr val="404155"/>
                          </a:solidFill>
                          <a:latin typeface="Nobile" pitchFamily="34" charset="0"/>
                          <a:ea typeface="Nobile" pitchFamily="34" charset="-122"/>
                          <a:cs typeface="Nobile" pitchFamily="34" charset="-120"/>
                        </a:rPr>
                        <a:t>CRITICAL</a:t>
                      </a:r>
                      <a:endParaRPr lang="en-US" sz="900">
                        <a:latin typeface="Nobile" pitchFamily="34" charset="0"/>
                        <a:ea typeface="Nobile" pitchFamily="34" charset="0"/>
                        <a:cs typeface="Nobile" pitchFamily="34" charset="0"/>
                      </a:endParaRPr>
                    </a:p>
                  </a:txBody>
                  <a:tcPr marL="115183" marR="115183" marT="6350" marB="6350" vert="horz" anchor="ctr">
                    <a:lnL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8239">
                <a:tc>
                  <a:txBody>
                    <a:bodyPr wrap="square"/>
                    <a:lstStyle/>
                    <a:p>
                      <a:pPr marL="0" indent="0" algn="l">
                        <a:buNone/>
                      </a:pPr>
                      <a:r>
                        <a:rPr lang="en-US" sz="900">
                          <a:solidFill>
                            <a:srgbClr val="404155"/>
                          </a:solidFill>
                          <a:latin typeface="Nobile" pitchFamily="34" charset="0"/>
                          <a:ea typeface="Nobile" pitchFamily="34" charset="-122"/>
                          <a:cs typeface="Nobile" pitchFamily="34" charset="-120"/>
                        </a:rPr>
                        <a:t>V-06</a:t>
                      </a:r>
                      <a:endParaRPr lang="en-US" sz="900">
                        <a:latin typeface="Nobile" pitchFamily="34" charset="0"/>
                        <a:ea typeface="Nobile" pitchFamily="34" charset="0"/>
                        <a:cs typeface="Nobile" pitchFamily="34" charset="0"/>
                      </a:endParaRPr>
                    </a:p>
                  </a:txBody>
                  <a:tcPr marL="115183" marR="115183" marT="6350" marB="6350" vert="horz" anchor="ctr">
                    <a:lnL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buNone/>
                      </a:pPr>
                      <a:r>
                        <a:rPr lang="en-US" sz="900">
                          <a:solidFill>
                            <a:srgbClr val="404155"/>
                          </a:solidFill>
                          <a:latin typeface="Nobile" pitchFamily="34" charset="0"/>
                          <a:ea typeface="Nobile" pitchFamily="34" charset="-122"/>
                          <a:cs typeface="Nobile" pitchFamily="34" charset="-120"/>
                        </a:rPr>
                        <a:t>Container weaknesses</a:t>
                      </a:r>
                      <a:endParaRPr lang="en-US" sz="900">
                        <a:latin typeface="Nobile" pitchFamily="34" charset="0"/>
                        <a:ea typeface="Nobile" pitchFamily="34" charset="0"/>
                        <a:cs typeface="Nobile" pitchFamily="34" charset="0"/>
                      </a:endParaRPr>
                    </a:p>
                  </a:txBody>
                  <a:tcPr marL="115183" marR="115183" marT="6350" marB="6350" vert="horz" anchor="ctr">
                    <a:lnL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buNone/>
                      </a:pPr>
                      <a:r>
                        <a:rPr lang="en-US" sz="900">
                          <a:solidFill>
                            <a:srgbClr val="404155"/>
                          </a:solidFill>
                          <a:latin typeface="Nobile" pitchFamily="34" charset="0"/>
                          <a:ea typeface="Nobile" pitchFamily="34" charset="-122"/>
                          <a:cs typeface="Nobile" pitchFamily="34" charset="-120"/>
                        </a:rPr>
                        <a:t>Root user, model in image</a:t>
                      </a:r>
                      <a:endParaRPr lang="en-US" sz="900">
                        <a:latin typeface="Nobile" pitchFamily="34" charset="0"/>
                        <a:ea typeface="Nobile" pitchFamily="34" charset="0"/>
                        <a:cs typeface="Nobile" pitchFamily="34" charset="0"/>
                      </a:endParaRPr>
                    </a:p>
                  </a:txBody>
                  <a:tcPr marL="115183" marR="115183" marT="6350" marB="6350" vert="horz" anchor="ctr">
                    <a:lnL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 algn="l">
                        <a:buNone/>
                      </a:pPr>
                      <a:r>
                        <a:rPr lang="en-US" sz="900">
                          <a:solidFill>
                            <a:srgbClr val="404155"/>
                          </a:solidFill>
                          <a:latin typeface="Nobile" pitchFamily="34" charset="0"/>
                          <a:ea typeface="Nobile" pitchFamily="34" charset="-122"/>
                          <a:cs typeface="Nobile" pitchFamily="34" charset="-120"/>
                        </a:rPr>
                        <a:t>MEDIUM</a:t>
                      </a:r>
                      <a:endParaRPr lang="en-US" sz="900">
                        <a:latin typeface="Nobile" pitchFamily="34" charset="0"/>
                        <a:ea typeface="Nobile" pitchFamily="34" charset="0"/>
                        <a:cs typeface="Nobile" pitchFamily="34" charset="0"/>
                      </a:endParaRPr>
                    </a:p>
                  </a:txBody>
                  <a:tcPr marL="115183" marR="115183" marT="6350" marB="6350" vert="horz" anchor="ctr">
                    <a:lnL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C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661475" y="5371306"/>
            <a:ext cx="10868745" cy="287933"/>
          </a:xfrm>
          <a:prstGeom prst="rect">
            <a:avLst/>
          </a:prstGeom>
          <a:noFill/>
        </p:spPr>
        <p:txBody>
          <a:bodyPr wrap="non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04000"/>
              </a:lnSpc>
              <a:buNone/>
            </a:pPr>
            <a:r>
              <a:rPr lang="en-US" sz="1800">
                <a:solidFill>
                  <a:srgbClr val="1B1B27"/>
                </a:solidFill>
                <a:latin typeface="Alexandria" pitchFamily="34" charset="0"/>
                <a:ea typeface="Alexandria" pitchFamily="34" charset="-122"/>
                <a:cs typeface="Alexandria" pitchFamily="34" charset="-120"/>
              </a:rPr>
              <a:t>Attack Enablers:</a:t>
            </a:r>
            <a:endParaRPr lang="en-US" sz="1800"/>
          </a:p>
        </p:txBody>
      </p:sp>
      <p:sp>
        <p:nvSpPr>
          <p:cNvPr id="8" name="Text 4"/>
          <p:cNvSpPr/>
          <p:nvPr/>
        </p:nvSpPr>
        <p:spPr>
          <a:xfrm>
            <a:off x="661475" y="5764510"/>
            <a:ext cx="10868745" cy="493713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82880" indent="-182880" algn="l">
              <a:lnSpc>
                <a:spcPct val="107000"/>
              </a:lnSpc>
              <a:buSzTx/>
              <a:buChar char="•"/>
            </a:pPr>
            <a:r>
              <a:rPr lang="en-US" sz="900">
                <a:solidFill>
                  <a:srgbClr val="404155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Model extraction: Needs unlimited queries + full probabilities ✓</a:t>
            </a:r>
            <a:endParaRPr lang="en-US" sz="900"/>
          </a:p>
          <a:p>
            <a:pPr marL="182880" indent="-182880" algn="l">
              <a:lnSpc>
                <a:spcPct val="107000"/>
              </a:lnSpc>
              <a:buSzTx/>
              <a:buChar char="•"/>
            </a:pPr>
            <a:r>
              <a:rPr lang="en-US" sz="900">
                <a:solidFill>
                  <a:srgbClr val="404155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Square Attack: Needs full probabilities for optimization ✓</a:t>
            </a:r>
            <a:endParaRPr lang="en-US" sz="900"/>
          </a:p>
          <a:p>
            <a:pPr marL="182880" indent="-182880" algn="l">
              <a:lnSpc>
                <a:spcPct val="107000"/>
              </a:lnSpc>
              <a:buSzTx/>
              <a:buChar char="•"/>
            </a:pPr>
            <a:r>
              <a:rPr lang="en-US" sz="900">
                <a:solidFill>
                  <a:srgbClr val="404155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All attacks: Proceed undetected (no logging) ✓</a:t>
            </a:r>
            <a:endParaRPr lang="en-US" sz="900"/>
          </a:p>
        </p:txBody>
      </p:sp>
    </p:spTree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617067"/>
            <a:ext cx="10868745" cy="590649"/>
          </a:xfrm>
          <a:prstGeom prst="rect">
            <a:avLst/>
          </a:prstGeom>
          <a:noFill/>
        </p:spPr>
        <p:txBody>
          <a:bodyPr wrap="non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04000"/>
              </a:lnSpc>
              <a:buNone/>
            </a:pPr>
            <a:r>
              <a:rPr lang="en-US" sz="3700">
                <a:solidFill>
                  <a:srgbClr val="1B1B27"/>
                </a:solidFill>
                <a:latin typeface="Alexandria" pitchFamily="34" charset="0"/>
                <a:ea typeface="Alexandria" pitchFamily="34" charset="-122"/>
                <a:cs typeface="Alexandria" pitchFamily="34" charset="-120"/>
              </a:rPr>
              <a:t>Mitigations</a:t>
            </a:r>
            <a:endParaRPr lang="en-US" sz="3700"/>
          </a:p>
        </p:txBody>
      </p:sp>
      <p:sp>
        <p:nvSpPr>
          <p:cNvPr id="3" name="Text 1"/>
          <p:cNvSpPr/>
          <p:nvPr/>
        </p:nvSpPr>
        <p:spPr>
          <a:xfrm>
            <a:off x="661475" y="2491184"/>
            <a:ext cx="11478330" cy="377924"/>
          </a:xfrm>
          <a:prstGeom prst="rect">
            <a:avLst/>
          </a:prstGeom>
          <a:noFill/>
        </p:spPr>
        <p:txBody>
          <a:bodyPr wrap="non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33000"/>
              </a:lnSpc>
              <a:buNone/>
            </a:pPr>
            <a:r>
              <a:rPr lang="en-US" sz="1850">
                <a:solidFill>
                  <a:srgbClr val="404155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Layered defense addresses both model and pipeline weaknesses</a:t>
            </a:r>
            <a:endParaRPr lang="en-US" sz="1850"/>
          </a:p>
        </p:txBody>
      </p:sp>
      <p:sp>
        <p:nvSpPr>
          <p:cNvPr id="4" name="Text 2"/>
          <p:cNvSpPr/>
          <p:nvPr/>
        </p:nvSpPr>
        <p:spPr>
          <a:xfrm>
            <a:off x="661475" y="3081734"/>
            <a:ext cx="11478330" cy="302419"/>
          </a:xfrm>
          <a:prstGeom prst="rect">
            <a:avLst/>
          </a:prstGeom>
          <a:noFill/>
        </p:spPr>
        <p:txBody>
          <a:bodyPr wrap="non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33000"/>
              </a:lnSpc>
              <a:buNone/>
            </a:pPr>
            <a:r>
              <a:rPr lang="en-US" sz="1450">
                <a:solidFill>
                  <a:srgbClr val="404155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Mitigation Strategy:</a:t>
            </a:r>
            <a:endParaRPr lang="en-US" sz="1450"/>
          </a:p>
        </p:txBody>
      </p:sp>
      <p:sp>
        <p:nvSpPr>
          <p:cNvPr id="5" name="Text 3"/>
          <p:cNvSpPr/>
          <p:nvPr/>
        </p:nvSpPr>
        <p:spPr>
          <a:xfrm>
            <a:off x="661475" y="3766840"/>
            <a:ext cx="5203794" cy="1407914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94640" indent="-294640" algn="l">
              <a:lnSpc>
                <a:spcPct val="133000"/>
              </a:lnSpc>
              <a:buSzTx/>
              <a:buChar char="•"/>
            </a:pPr>
            <a:r>
              <a:rPr lang="en-US" sz="1450">
                <a:solidFill>
                  <a:srgbClr val="404155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M-05: API Authentication</a:t>
            </a:r>
            <a:endParaRPr lang="en-US" sz="1450"/>
          </a:p>
          <a:p>
            <a:pPr marL="294640" indent="-294640" algn="l">
              <a:lnSpc>
                <a:spcPct val="133000"/>
              </a:lnSpc>
              <a:buSzTx/>
              <a:buChar char="•"/>
            </a:pPr>
            <a:r>
              <a:rPr lang="en-US" sz="1450">
                <a:solidFill>
                  <a:srgbClr val="404155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M-06: Rate Limiting</a:t>
            </a:r>
            <a:endParaRPr lang="en-US" sz="1450"/>
          </a:p>
          <a:p>
            <a:pPr marL="294640" indent="-294640" algn="l">
              <a:lnSpc>
                <a:spcPct val="133000"/>
              </a:lnSpc>
              <a:buSzTx/>
              <a:buChar char="•"/>
            </a:pPr>
            <a:r>
              <a:rPr lang="en-US" sz="1450">
                <a:solidFill>
                  <a:srgbClr val="404155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M-07: Minimize Response Data</a:t>
            </a:r>
            <a:endParaRPr lang="en-US" sz="1450"/>
          </a:p>
          <a:p>
            <a:pPr marL="294640" indent="-294640" algn="l">
              <a:lnSpc>
                <a:spcPct val="133000"/>
              </a:lnSpc>
              <a:buSzTx/>
              <a:buChar char="•"/>
            </a:pPr>
            <a:r>
              <a:rPr lang="en-US" sz="1450">
                <a:solidFill>
                  <a:srgbClr val="404155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M-08: Remove Metadata Endpoint</a:t>
            </a:r>
            <a:endParaRPr lang="en-US" sz="1450"/>
          </a:p>
        </p:txBody>
      </p:sp>
      <p:sp>
        <p:nvSpPr>
          <p:cNvPr id="6" name="Text 4"/>
          <p:cNvSpPr/>
          <p:nvPr/>
        </p:nvSpPr>
        <p:spPr>
          <a:xfrm>
            <a:off x="6332776" y="3766840"/>
            <a:ext cx="5203794" cy="1039416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94640" indent="-294640" algn="l">
              <a:lnSpc>
                <a:spcPct val="133000"/>
              </a:lnSpc>
              <a:buSzTx/>
              <a:buChar char="•"/>
            </a:pPr>
            <a:r>
              <a:rPr lang="en-US" sz="1450">
                <a:solidFill>
                  <a:srgbClr val="404155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M-01: Adversarial Training</a:t>
            </a:r>
            <a:endParaRPr lang="en-US" sz="1450"/>
          </a:p>
          <a:p>
            <a:pPr marL="294640" indent="-294640" algn="l">
              <a:lnSpc>
                <a:spcPct val="133000"/>
              </a:lnSpc>
              <a:buSzTx/>
              <a:buChar char="•"/>
            </a:pPr>
            <a:r>
              <a:rPr lang="en-US" sz="1450">
                <a:solidFill>
                  <a:srgbClr val="404155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M-09: Comprehensive Logging</a:t>
            </a:r>
            <a:endParaRPr lang="en-US" sz="1450"/>
          </a:p>
          <a:p>
            <a:pPr marL="294640" indent="-294640" algn="l">
              <a:lnSpc>
                <a:spcPct val="133000"/>
              </a:lnSpc>
              <a:buSzTx/>
              <a:buChar char="•"/>
            </a:pPr>
            <a:r>
              <a:rPr lang="en-US" sz="1450">
                <a:solidFill>
                  <a:srgbClr val="404155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M-10: Container Hardening</a:t>
            </a:r>
            <a:endParaRPr lang="en-US" sz="1450"/>
          </a:p>
        </p:txBody>
      </p:sp>
    </p:spTree>
  </p:cSld>
  <p:clrMapOvr>
    <a:masterClrMapping/>
  </p:clrMapOvr>
  <p:transition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" name="Picture 4" descr="image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57575" y="790575"/>
            <a:ext cx="5276215" cy="5276215"/>
          </a:xfrm>
          <a:prstGeom prst="rect">
            <a:avLst/>
          </a:prstGeom>
        </p:spPr>
      </p:pic>
    </p:spTree>
  </p:cSld>
  <p:clrMapOvr>
    <a:masterClrMapping/>
  </p:clrMapOvr>
  <p:transition/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Calibri Light"/>
        <a:cs typeface="Arial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Calibri"/>
        <a:cs typeface="Arial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Calibri Light"/>
        <a:cs typeface="Arial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Calibri"/>
        <a:cs typeface="Arial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Calibri Light"/>
        <a:cs typeface="Arial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Calibri"/>
        <a:cs typeface="Arial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6809</Words>
  <Application>WPS Presentation</Application>
  <PresentationFormat>On-screen Show (4:3)</PresentationFormat>
  <Paragraphs>397</Paragraphs>
  <Slides>16</Slides>
  <Notes>15</Notes>
  <HiddenSlides>0</HiddenSlides>
  <MMClips>0</MMClips>
  <ScaleCrop>false</ScaleCrop>
  <HeadingPairs>
    <vt:vector size="6" baseType="variant">
      <vt:variant>
        <vt:lpstr>已用的字体</vt:lpstr>
      </vt:variant>
      <vt:variant>
        <vt:i4>22</vt:i4>
      </vt:variant>
      <vt:variant>
        <vt:lpstr>主题</vt:lpstr>
      </vt:variant>
      <vt:variant>
        <vt:i4>3</vt:i4>
      </vt:variant>
      <vt:variant>
        <vt:lpstr>幻灯片标题</vt:lpstr>
      </vt:variant>
      <vt:variant>
        <vt:i4>16</vt:i4>
      </vt:variant>
    </vt:vector>
  </HeadingPairs>
  <TitlesOfParts>
    <vt:vector size="41" baseType="lpstr">
      <vt:lpstr>Arial</vt:lpstr>
      <vt:lpstr>SimSun</vt:lpstr>
      <vt:lpstr>Wingdings</vt:lpstr>
      <vt:lpstr>Alexandria</vt:lpstr>
      <vt:lpstr>Alexandria</vt:lpstr>
      <vt:lpstr>Alexandria</vt:lpstr>
      <vt:lpstr>Nobile</vt:lpstr>
      <vt:lpstr>Nobile</vt:lpstr>
      <vt:lpstr>Nobile</vt:lpstr>
      <vt:lpstr>Consolas</vt:lpstr>
      <vt:lpstr>Consolas</vt:lpstr>
      <vt:lpstr>Consolas</vt:lpstr>
      <vt:lpstr>Nobile Bold</vt:lpstr>
      <vt:lpstr>Nobile Bold</vt:lpstr>
      <vt:lpstr>Nobile Bold</vt:lpstr>
      <vt:lpstr>Calibri</vt:lpstr>
      <vt:lpstr>DejaVu Sans</vt:lpstr>
      <vt:lpstr>URW Bookman</vt:lpstr>
      <vt:lpstr>微软雅黑</vt:lpstr>
      <vt:lpstr>Droid Sans Fallback</vt:lpstr>
      <vt:lpstr>Arial Unicode MS</vt:lpstr>
      <vt:lpstr>D050000L</vt:lpstr>
      <vt:lpstr>Office Theme</vt:lpstr>
      <vt:lpstr>Office Theme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teddy</cp:lastModifiedBy>
  <cp:revision>8</cp:revision>
  <dcterms:created xsi:type="dcterms:W3CDTF">2026-10-01T17:00:17Z</dcterms:created>
  <dcterms:modified xsi:type="dcterms:W3CDTF">2026-10-01T17:00:17Z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1033-10.1.0.6757</vt:lpwstr>
  </property>
</Properties>
</file>