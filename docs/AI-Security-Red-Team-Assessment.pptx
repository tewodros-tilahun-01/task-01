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tru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embeddedFontLst>
    <p:embeddedFont>
      <p:font typeface="Inter Bold"/>
      <p:regular r:id="rId201314"/>
    </p:embeddedFont>
    <p:embeddedFont>
      <p:font typeface="Inter"/>
      <p:regular r:id="rId201315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201314" Target="fonts/201314.fntdata" Type="http://schemas.openxmlformats.org/officeDocument/2006/relationships/font"/><Relationship Id="rId201315" Target="fonts/201315.fntdata" Type="http://schemas.openxmlformats.org/officeDocument/2006/relationships/font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image" Target="../media/image-1002-1.pn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4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>
            <a:hlinkClick r:id="rId2" tooltip="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76875" y="65589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image" Target="../media/image-7-1.png"/><Relationship Id="rId4" Type="http://schemas.openxmlformats.org/officeDocument/2006/relationships/image" Target="../media/image-7-2.svg"/><Relationship Id="rId5" Type="http://schemas.openxmlformats.org/officeDocument/2006/relationships/image" Target="../media/image-7-1.png"/><Relationship Id="rId6" Type="http://schemas.openxmlformats.org/officeDocument/2006/relationships/image" Target="../media/image-7-2.sv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svg"/><Relationship Id="rId3" Type="http://schemas.openxmlformats.org/officeDocument/2006/relationships/image" Target="../media/image-9-3.png"/><Relationship Id="rId4" Type="http://schemas.openxmlformats.org/officeDocument/2006/relationships/image" Target="../media/image-9-4.svg"/><Relationship Id="rId5" Type="http://schemas.openxmlformats.org/officeDocument/2006/relationships/image" Target="../media/image-9-5.png"/><Relationship Id="rId6" Type="http://schemas.openxmlformats.org/officeDocument/2006/relationships/image" Target="../media/image-9-6.svg"/><Relationship Id="rId7" Type="http://schemas.openxmlformats.org/officeDocument/2006/relationships/image" Target="../media/image-9-7.png"/><Relationship Id="rId8" Type="http://schemas.openxmlformats.org/officeDocument/2006/relationships/image" Target="../media/image-9-8.sv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4571886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233360" y="2030313"/>
            <a:ext cx="6296860" cy="11812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700" b="1" spc="-112" kern="0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AI Security Red Team Assessment</a:t>
            </a:r>
            <a:endParaRPr lang="en-US" sz="3700" dirty="0"/>
          </a:p>
        </p:txBody>
      </p:sp>
      <p:sp>
        <p:nvSpPr>
          <p:cNvPr id="4" name="Text 1"/>
          <p:cNvSpPr/>
          <p:nvPr/>
        </p:nvSpPr>
        <p:spPr>
          <a:xfrm>
            <a:off x="5233360" y="3495080"/>
            <a:ext cx="6296860" cy="13325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3000"/>
              </a:lnSpc>
              <a:spcAft>
                <a:spcPts val="1650"/>
              </a:spcAft>
              <a:buNone/>
            </a:pPr>
            <a:r>
              <a:rPr lang="en-US" sz="1450" b="1" spc="-30" kern="0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Subtitle:</a:t>
            </a:r>
            <a:pPr algn="l" indent="0" marL="0">
              <a:lnSpc>
                <a:spcPct val="133000"/>
              </a:lnSpc>
              <a:spcAft>
                <a:spcPts val="1650"/>
              </a:spcAft>
              <a:buNone/>
            </a:pPr>
            <a:r>
              <a:rPr lang="en-US" sz="1450" spc="-30" kern="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CIFAR-10 Classifier Security Analysis</a:t>
            </a:r>
            <a:endParaRPr lang="en-US" sz="1450" dirty="0"/>
          </a:p>
          <a:p>
            <a:pPr algn="l" indent="0" marL="0">
              <a:lnSpc>
                <a:spcPct val="133000"/>
              </a:lnSpc>
              <a:spcAft>
                <a:spcPts val="1650"/>
              </a:spcAft>
              <a:buNone/>
            </a:pPr>
            <a:r>
              <a:rPr lang="en-US" sz="1450" b="1" spc="-30" kern="0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Presented by:</a:t>
            </a:r>
            <a:pPr algn="l" indent="0" marL="0">
              <a:lnSpc>
                <a:spcPct val="133000"/>
              </a:lnSpc>
              <a:spcAft>
                <a:spcPts val="1650"/>
              </a:spcAft>
              <a:buNone/>
            </a:pPr>
            <a:r>
              <a:rPr lang="en-US" sz="1450" spc="-30" kern="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TEWDROS TILAHUN — Ethiopian Artificial Intelligence</a:t>
            </a:r>
            <a:endParaRPr lang="en-US" sz="145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50" b="1" spc="-30" kern="0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Date:</a:t>
            </a:r>
            <a:pPr algn="l" indent="0" marL="0">
              <a:lnSpc>
                <a:spcPct val="133000"/>
              </a:lnSpc>
              <a:buNone/>
            </a:pPr>
            <a:r>
              <a:rPr lang="en-US" sz="1450" spc="-30" kern="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September 2026</a:t>
            </a:r>
            <a:endParaRPr lang="en-US" sz="14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4571886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233360" y="693440"/>
            <a:ext cx="6296860" cy="4724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950" b="1" spc="-89" kern="0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Project Overview</a:t>
            </a:r>
            <a:endParaRPr lang="en-US" sz="2950" dirty="0"/>
          </a:p>
        </p:txBody>
      </p:sp>
      <p:sp>
        <p:nvSpPr>
          <p:cNvPr id="4" name="Text 1"/>
          <p:cNvSpPr/>
          <p:nvPr/>
        </p:nvSpPr>
        <p:spPr>
          <a:xfrm>
            <a:off x="5233360" y="1449388"/>
            <a:ext cx="6296860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450" spc="-30" kern="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Goal: Red team simulation against production AI system to evaluate adversarial resilience, pipeline hardening, and information leakage.</a:t>
            </a:r>
            <a:endParaRPr lang="en-US" sz="1450" dirty="0"/>
          </a:p>
        </p:txBody>
      </p:sp>
      <p:sp>
        <p:nvSpPr>
          <p:cNvPr id="5" name="Shape 2"/>
          <p:cNvSpPr/>
          <p:nvPr/>
        </p:nvSpPr>
        <p:spPr>
          <a:xfrm>
            <a:off x="5233360" y="2266851"/>
            <a:ext cx="1972915" cy="2606774"/>
          </a:xfrm>
          <a:prstGeom prst="roundRect">
            <a:avLst>
              <a:gd name="adj" fmla="val 4024"/>
            </a:avLst>
          </a:prstGeom>
          <a:solidFill>
            <a:srgbClr val="DADBF1"/>
          </a:solidFill>
          <a:ln w="6350">
            <a:solidFill>
              <a:srgbClr val="C0C1D7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28717" y="2462213"/>
            <a:ext cx="1582202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50" b="1" spc="-56" kern="0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Adversarial inputs</a:t>
            </a:r>
            <a:endParaRPr lang="en-US" sz="1850" dirty="0"/>
          </a:p>
        </p:txBody>
      </p:sp>
      <p:sp>
        <p:nvSpPr>
          <p:cNvPr id="7" name="Text 4"/>
          <p:cNvSpPr/>
          <p:nvPr/>
        </p:nvSpPr>
        <p:spPr>
          <a:xfrm>
            <a:off x="5428717" y="3166170"/>
            <a:ext cx="1582202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450" spc="-30" kern="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Crafted images designed to fool the classifier.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7395283" y="2266851"/>
            <a:ext cx="1972915" cy="2606774"/>
          </a:xfrm>
          <a:prstGeom prst="roundRect">
            <a:avLst>
              <a:gd name="adj" fmla="val 4024"/>
            </a:avLst>
          </a:prstGeom>
          <a:solidFill>
            <a:srgbClr val="DADBF1"/>
          </a:solidFill>
          <a:ln w="6350">
            <a:solidFill>
              <a:srgbClr val="C0C1D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590640" y="2462213"/>
            <a:ext cx="1582202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50" b="1" spc="-56" kern="0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Pipeline vulnerabilities</a:t>
            </a:r>
            <a:endParaRPr lang="en-US" sz="1850" dirty="0"/>
          </a:p>
        </p:txBody>
      </p:sp>
      <p:sp>
        <p:nvSpPr>
          <p:cNvPr id="10" name="Text 7"/>
          <p:cNvSpPr/>
          <p:nvPr/>
        </p:nvSpPr>
        <p:spPr>
          <a:xfrm>
            <a:off x="7590640" y="3166170"/>
            <a:ext cx="1582202" cy="15120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450" spc="-30" kern="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Docker and API weaknesses that could enable attack persistence or escalation.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9557205" y="2266851"/>
            <a:ext cx="1972915" cy="2606774"/>
          </a:xfrm>
          <a:prstGeom prst="roundRect">
            <a:avLst>
              <a:gd name="adj" fmla="val 4024"/>
            </a:avLst>
          </a:prstGeom>
          <a:solidFill>
            <a:srgbClr val="DADBF1"/>
          </a:solidFill>
          <a:ln w="6350">
            <a:solidFill>
              <a:srgbClr val="C0C1D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9752562" y="2462213"/>
            <a:ext cx="1582202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50" b="1" spc="-56" kern="0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Metadata leakage</a:t>
            </a:r>
            <a:endParaRPr lang="en-US" sz="1850" dirty="0"/>
          </a:p>
        </p:txBody>
      </p:sp>
      <p:sp>
        <p:nvSpPr>
          <p:cNvPr id="13" name="Text 10"/>
          <p:cNvSpPr/>
          <p:nvPr/>
        </p:nvSpPr>
        <p:spPr>
          <a:xfrm>
            <a:off x="9752562" y="3166170"/>
            <a:ext cx="1582202" cy="15120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450" spc="-30" kern="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Information disclosure from model, dataset, or configuration artifacts.</a:t>
            </a:r>
            <a:endParaRPr lang="en-US" sz="1450" dirty="0"/>
          </a:p>
        </p:txBody>
      </p:sp>
      <p:sp>
        <p:nvSpPr>
          <p:cNvPr id="14" name="Shape 11"/>
          <p:cNvSpPr/>
          <p:nvPr/>
        </p:nvSpPr>
        <p:spPr>
          <a:xfrm>
            <a:off x="5233360" y="5062637"/>
            <a:ext cx="6296760" cy="1101824"/>
          </a:xfrm>
          <a:prstGeom prst="roundRect">
            <a:avLst>
              <a:gd name="adj" fmla="val 7205"/>
            </a:avLst>
          </a:prstGeom>
          <a:solidFill>
            <a:srgbClr val="DADBF1"/>
          </a:solidFill>
          <a:ln w="6350">
            <a:solidFill>
              <a:srgbClr val="C0C1D7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28717" y="5257998"/>
            <a:ext cx="5906047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50" b="1" spc="-56" kern="0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Mitigations</a:t>
            </a:r>
            <a:endParaRPr lang="en-US" sz="1850" dirty="0"/>
          </a:p>
        </p:txBody>
      </p:sp>
      <p:sp>
        <p:nvSpPr>
          <p:cNvPr id="16" name="Text 13"/>
          <p:cNvSpPr/>
          <p:nvPr/>
        </p:nvSpPr>
        <p:spPr>
          <a:xfrm>
            <a:off x="5428717" y="5666680"/>
            <a:ext cx="5906047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450" spc="-30" kern="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Recommendations aligned to MITRE ATLAS and NIST AI RMF.</a:t>
            </a:r>
            <a:endParaRPr lang="en-US" sz="14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20402"/>
            <a:ext cx="10868745" cy="4207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650" b="1" spc="-80" kern="0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Target System Architecture</a:t>
            </a:r>
            <a:endParaRPr lang="en-US" sz="265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1475" y="1703189"/>
            <a:ext cx="4097037" cy="4097139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743531" y="1315938"/>
            <a:ext cx="5792940" cy="26302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650" b="1" spc="-50" kern="0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CIFAR-10 CNN Classifier — Key Components</a:t>
            </a:r>
            <a:endParaRPr lang="en-US" sz="1650" dirty="0"/>
          </a:p>
        </p:txBody>
      </p:sp>
      <p:sp>
        <p:nvSpPr>
          <p:cNvPr id="5" name="Shape 2"/>
          <p:cNvSpPr/>
          <p:nvPr/>
        </p:nvSpPr>
        <p:spPr>
          <a:xfrm>
            <a:off x="5743531" y="1747639"/>
            <a:ext cx="2821512" cy="2450108"/>
          </a:xfrm>
          <a:prstGeom prst="roundRect">
            <a:avLst>
              <a:gd name="adj" fmla="val 2886"/>
            </a:avLst>
          </a:prstGeom>
          <a:solidFill>
            <a:srgbClr val="FFFFFF"/>
          </a:solidFill>
          <a:ln w="19050">
            <a:solidFill>
              <a:srgbClr val="C0C1D7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930851" y="1934964"/>
            <a:ext cx="2446872" cy="26302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650" b="1" spc="-50" kern="0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FastAPI Inference Server</a:t>
            </a:r>
            <a:endParaRPr lang="en-US" sz="1650" dirty="0"/>
          </a:p>
        </p:txBody>
      </p:sp>
      <p:sp>
        <p:nvSpPr>
          <p:cNvPr id="7" name="Text 4"/>
          <p:cNvSpPr/>
          <p:nvPr/>
        </p:nvSpPr>
        <p:spPr>
          <a:xfrm>
            <a:off x="5930851" y="2347913"/>
            <a:ext cx="2446872" cy="14079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6000"/>
              </a:lnSpc>
              <a:spcAft>
                <a:spcPts val="1050"/>
              </a:spcAft>
              <a:buNone/>
            </a:pPr>
            <a:r>
              <a:rPr lang="en-US" sz="1300" spc="-27" kern="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REST API endpoint that accepts image inputs and returns classification predictions.</a:t>
            </a:r>
            <a:endParaRPr lang="en-US" sz="1300" dirty="0"/>
          </a:p>
          <a:p>
            <a:pPr algn="l" indent="0" marL="0">
              <a:lnSpc>
                <a:spcPct val="126000"/>
              </a:lnSpc>
              <a:buNone/>
            </a:pPr>
            <a:r>
              <a:rPr lang="en-US" sz="1300" spc="-27" kern="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Purpose: Externally facing interface for inference requests.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8714959" y="1747639"/>
            <a:ext cx="2821512" cy="2450108"/>
          </a:xfrm>
          <a:prstGeom prst="roundRect">
            <a:avLst>
              <a:gd name="adj" fmla="val 2886"/>
            </a:avLst>
          </a:prstGeom>
          <a:solidFill>
            <a:srgbClr val="FFFFFF"/>
          </a:solidFill>
          <a:ln w="19050">
            <a:solidFill>
              <a:srgbClr val="C0C1D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902279" y="1934964"/>
            <a:ext cx="2446872" cy="26302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650" b="1" spc="-50" kern="0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Docker Containerization</a:t>
            </a:r>
            <a:endParaRPr lang="en-US" sz="1650" dirty="0"/>
          </a:p>
        </p:txBody>
      </p:sp>
      <p:sp>
        <p:nvSpPr>
          <p:cNvPr id="10" name="Text 7"/>
          <p:cNvSpPr/>
          <p:nvPr/>
        </p:nvSpPr>
        <p:spPr>
          <a:xfrm>
            <a:off x="8902279" y="2347913"/>
            <a:ext cx="2446872" cy="16625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6000"/>
              </a:lnSpc>
              <a:spcAft>
                <a:spcPts val="1050"/>
              </a:spcAft>
              <a:buNone/>
            </a:pPr>
            <a:r>
              <a:rPr lang="en-US" sz="1300" spc="-27" kern="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Isolated runtime environment that ensures reproducibility and security isolation.</a:t>
            </a:r>
            <a:endParaRPr lang="en-US" sz="1300" dirty="0"/>
          </a:p>
          <a:p>
            <a:pPr algn="l" indent="0" marL="0">
              <a:lnSpc>
                <a:spcPct val="126000"/>
              </a:lnSpc>
              <a:buNone/>
            </a:pPr>
            <a:r>
              <a:rPr lang="en-US" sz="1300" spc="-27" kern="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Purpose: Keeps the service consistent across runs while reducing exposure.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743531" y="4347666"/>
            <a:ext cx="5792940" cy="1431727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19050">
            <a:solidFill>
              <a:srgbClr val="C0C1D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930851" y="4534991"/>
            <a:ext cx="5418300" cy="26302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650" b="1" spc="-50" kern="0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Model Training Pipeline</a:t>
            </a:r>
            <a:endParaRPr lang="en-US" sz="1650" dirty="0"/>
          </a:p>
        </p:txBody>
      </p:sp>
      <p:sp>
        <p:nvSpPr>
          <p:cNvPr id="13" name="Text 10"/>
          <p:cNvSpPr/>
          <p:nvPr/>
        </p:nvSpPr>
        <p:spPr>
          <a:xfrm>
            <a:off x="5930851" y="4947940"/>
            <a:ext cx="5418300" cy="64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6000"/>
              </a:lnSpc>
              <a:spcAft>
                <a:spcPts val="1050"/>
              </a:spcAft>
              <a:buNone/>
            </a:pPr>
            <a:r>
              <a:rPr lang="en-US" sz="1300" spc="-27" kern="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Offline process for training the CIFAR-10 CNN classifier on clean data.</a:t>
            </a:r>
            <a:endParaRPr lang="en-US" sz="1300" dirty="0"/>
          </a:p>
          <a:p>
            <a:pPr algn="l" indent="0" marL="0">
              <a:lnSpc>
                <a:spcPct val="126000"/>
              </a:lnSpc>
              <a:buNone/>
            </a:pPr>
            <a:r>
              <a:rPr lang="en-US" sz="1300" spc="-27" kern="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Purpose: Produces the model artifact used by the inference service.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114822"/>
            <a:ext cx="10868745" cy="4724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950" b="1" spc="-89" kern="0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Attack Surface</a:t>
            </a:r>
            <a:endParaRPr lang="en-US" sz="2950" dirty="0"/>
          </a:p>
        </p:txBody>
      </p:sp>
      <p:sp>
        <p:nvSpPr>
          <p:cNvPr id="3" name="Text 1"/>
          <p:cNvSpPr/>
          <p:nvPr/>
        </p:nvSpPr>
        <p:spPr>
          <a:xfrm>
            <a:off x="661475" y="1965325"/>
            <a:ext cx="11478330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450" spc="-30" kern="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Four implemented attack types used in assessments. Table summarizes access model, severity, and key result.</a:t>
            </a:r>
            <a:endParaRPr lang="en-US" sz="14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1475" y="2480370"/>
          <a:ext cx="9143771" cy="914400"/>
        </p:xfrm>
        <a:graphic>
          <a:graphicData uri="http://schemas.openxmlformats.org/drawingml/2006/table">
            <a:tbl>
              <a:tblPr/>
              <a:tblGrid>
                <a:gridCol w="3260624"/>
                <a:gridCol w="2717186"/>
                <a:gridCol w="2173749"/>
                <a:gridCol w="2717186"/>
              </a:tblGrid>
              <a:tr h="54509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b="1" spc="-30" kern="0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Attack Name</a:t>
                      </a:r>
                      <a:endParaRPr lang="en-US" sz="14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b="1" spc="-30" kern="0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Type</a:t>
                      </a:r>
                      <a:endParaRPr lang="en-US" sz="14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b="1" spc="-30" kern="0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Severity</a:t>
                      </a:r>
                      <a:endParaRPr lang="en-US" sz="14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b="1" spc="-30" kern="0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Key Result</a:t>
                      </a:r>
                      <a:endParaRPr lang="en-US" sz="14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26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spc="-30" kern="0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FGSM</a:t>
                      </a:r>
                      <a:endParaRPr lang="en-US" sz="14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spc="-30" kern="0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White-box</a:t>
                      </a:r>
                      <a:endParaRPr lang="en-US" sz="14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spc="-30" kern="0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CRITICAL</a:t>
                      </a:r>
                      <a:endParaRPr lang="en-US" sz="14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spc="-30" kern="0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91.62% success (28s)</a:t>
                      </a:r>
                      <a:endParaRPr lang="en-US" sz="14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26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spc="-30" kern="0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PGD</a:t>
                      </a:r>
                      <a:endParaRPr lang="en-US" sz="14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spc="-30" kern="0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White-box</a:t>
                      </a:r>
                      <a:endParaRPr lang="en-US" sz="14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spc="-30" kern="0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CRITICAL</a:t>
                      </a:r>
                      <a:endParaRPr lang="en-US" sz="14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spc="-30" kern="0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100% success (1.06m)</a:t>
                      </a:r>
                      <a:endParaRPr lang="en-US" sz="14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26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spc="-30" kern="0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Square Attack</a:t>
                      </a:r>
                      <a:endParaRPr lang="en-US" sz="14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spc="-30" kern="0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Black-box</a:t>
                      </a:r>
                      <a:endParaRPr lang="en-US" sz="14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spc="-30" kern="0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CRITICAL</a:t>
                      </a:r>
                      <a:endParaRPr lang="en-US" sz="14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spc="-30" kern="0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86.75% (500 queries)</a:t>
                      </a:r>
                      <a:endParaRPr lang="en-US" sz="14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509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spc="-30" kern="0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Model Extraction</a:t>
                      </a:r>
                      <a:endParaRPr lang="en-US" sz="14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spc="-30" kern="0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Black-box</a:t>
                      </a:r>
                      <a:endParaRPr lang="en-US" sz="14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spc="-30" kern="0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CRITICAL</a:t>
                      </a:r>
                      <a:endParaRPr lang="en-US" sz="14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spc="-30" kern="0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80.3% fidelity (9 min)</a:t>
                      </a:r>
                      <a:endParaRPr lang="en-US" sz="14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61475" y="5440759"/>
            <a:ext cx="11478330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450" spc="-30" kern="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API Queries: 56,572+ (Model Extraction: 10,000, Square Attack: 46,572) — All accepted without detection</a:t>
            </a:r>
            <a:endParaRPr lang="en-US" sz="14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697409"/>
            <a:ext cx="10868745" cy="4576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850" b="1" spc="-87" kern="0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White-box Attacks — FGSM &amp; PGD</a:t>
            </a:r>
            <a:endParaRPr lang="en-US" sz="285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1475" y="2260302"/>
            <a:ext cx="5211037" cy="3061097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325533" y="1598414"/>
            <a:ext cx="5211037" cy="2860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00" b="1" spc="-54" kern="0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Characteristics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6325533" y="2061766"/>
            <a:ext cx="5211037" cy="6388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284480" indent="-284480">
              <a:lnSpc>
                <a:spcPct val="131000"/>
              </a:lnSpc>
              <a:buSzPct val="100000"/>
              <a:buChar char="•"/>
            </a:pPr>
            <a:r>
              <a:rPr lang="en-US" sz="1400" spc="-29" kern="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Require model internals (weights, gradients)</a:t>
            </a:r>
            <a:endParaRPr lang="en-US" sz="1400" dirty="0"/>
          </a:p>
          <a:p>
            <a:pPr algn="l" marL="284480" indent="-284480">
              <a:lnSpc>
                <a:spcPct val="131000"/>
              </a:lnSpc>
              <a:buSzPct val="100000"/>
              <a:buChar char="•"/>
            </a:pPr>
            <a:r>
              <a:rPr lang="en-US" sz="1400" spc="-29" kern="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Used in controlled/internal security testing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6325533" y="2877939"/>
            <a:ext cx="5211037" cy="2860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00" b="1" spc="-54" kern="0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FGSM (Fast Gradient Sign Method)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6325533" y="3341291"/>
            <a:ext cx="5211037" cy="86528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1000"/>
              </a:lnSpc>
              <a:buNone/>
            </a:pPr>
            <a:r>
              <a:rPr lang="en-US" sz="1400" spc="-29" kern="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Single-step perturbation using gradient sign. Results at ε=8/255: 91.62% success (153/167 images), 8.38% adversarial accuracy (dropped from 83.5%), CRITICAL severity.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6325533" y="4383881"/>
            <a:ext cx="5211037" cy="2860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00" b="1" spc="-54" kern="0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PGD (Projected Gradient Descent)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6325533" y="4847233"/>
            <a:ext cx="5211037" cy="11537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1000"/>
              </a:lnSpc>
              <a:buNone/>
            </a:pPr>
            <a:r>
              <a:rPr lang="en-US" sz="1400" spc="-29" kern="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20-step iterative refinement. Results at ε=8/255: 100% success, 0% adversarial accuracy, all 10 classes compromised, CRITICAL severity. Industry standard for robustness testing.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234182"/>
            <a:ext cx="10868745" cy="4724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950" b="1" spc="-89" kern="0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Black-box Attacks — Square &amp; Extraction</a:t>
            </a:r>
            <a:endParaRPr lang="en-US" sz="295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1475" y="2371626"/>
            <a:ext cx="4637269" cy="2870597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74678" y="4095428"/>
            <a:ext cx="875917" cy="1502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900" b="1" spc="-28" kern="0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Transfer Mode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74678" y="4288375"/>
            <a:ext cx="875917" cy="3605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750" spc="-25" kern="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Perturbations transfer through the black-box pipeline.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4305050" y="4095428"/>
            <a:ext cx="875917" cy="3004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900" b="1" spc="-28" kern="0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Surrogate model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4305050" y="4438593"/>
            <a:ext cx="875917" cy="48069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750" spc="-25" kern="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Learns from observed responses to improve transferability.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774678" y="2557194"/>
            <a:ext cx="875917" cy="1502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900" b="1" spc="-28" kern="0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Attack queries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774678" y="2750141"/>
            <a:ext cx="875917" cy="3605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750" spc="-25" kern="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Square Attack: score-based, geometric queries.</a:t>
            </a:r>
            <a:endParaRPr lang="en-US" sz="750" dirty="0"/>
          </a:p>
        </p:txBody>
      </p:sp>
      <p:sp>
        <p:nvSpPr>
          <p:cNvPr id="10" name="Text 7"/>
          <p:cNvSpPr/>
          <p:nvPr/>
        </p:nvSpPr>
        <p:spPr>
          <a:xfrm>
            <a:off x="4305050" y="2557194"/>
            <a:ext cx="875917" cy="3004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900" b="1" spc="-28" kern="0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Target perturbations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305050" y="2900359"/>
            <a:ext cx="875917" cy="3605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750" spc="-25" kern="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Query-based updates refine the attack path.</a:t>
            </a:r>
            <a:endParaRPr lang="en-US" sz="750" dirty="0"/>
          </a:p>
        </p:txBody>
      </p:sp>
      <p:sp>
        <p:nvSpPr>
          <p:cNvPr id="12" name="Text 9"/>
          <p:cNvSpPr/>
          <p:nvPr/>
        </p:nvSpPr>
        <p:spPr>
          <a:xfrm>
            <a:off x="5766251" y="2179141"/>
            <a:ext cx="5770220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50" b="1" spc="-56" kern="0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Square Attack</a:t>
            </a:r>
            <a:endParaRPr lang="en-US" sz="1850" dirty="0"/>
          </a:p>
        </p:txBody>
      </p:sp>
      <p:sp>
        <p:nvSpPr>
          <p:cNvPr id="13" name="Text 10"/>
          <p:cNvSpPr/>
          <p:nvPr/>
        </p:nvSpPr>
        <p:spPr>
          <a:xfrm>
            <a:off x="5766251" y="2663428"/>
            <a:ext cx="5770220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450" spc="-30" kern="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Score-based, geometric perturbations without gradients. Results at 500 queries/image: 86.75% success (144/166 images), median 31 queries needed, 271 seconds total, CRITICAL severity.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5766251" y="3759696"/>
            <a:ext cx="5770220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50" b="1" spc="-56" kern="0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Model Extraction</a:t>
            </a:r>
            <a:endParaRPr lang="en-US" sz="1850" dirty="0"/>
          </a:p>
        </p:txBody>
      </p:sp>
      <p:sp>
        <p:nvSpPr>
          <p:cNvPr id="15" name="Text 12"/>
          <p:cNvSpPr/>
          <p:nvPr/>
        </p:nvSpPr>
        <p:spPr>
          <a:xfrm>
            <a:off x="5766251" y="4243983"/>
            <a:ext cx="5770220" cy="12096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450" spc="-30" kern="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Query API 10,000 times to build surrogate model. Results: 80.3% agreement rate, 80.12% transfer attack success, 8.8 minutes total (104s queries + 398s training), CRITICAL severity (IP theft + gradient access).</a:t>
            </a:r>
            <a:endParaRPr lang="en-US" sz="14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422598"/>
            <a:ext cx="10868745" cy="4724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950" b="1" spc="-89" kern="0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Key Findings — Vulnerabilities</a:t>
            </a:r>
            <a:endParaRPr lang="en-US" sz="295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1475" y="2178546"/>
            <a:ext cx="3496877" cy="325685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77479" y="2392958"/>
            <a:ext cx="2966467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50" b="1" spc="-56" kern="0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Adversarial Robustness</a:t>
            </a:r>
            <a:endParaRPr lang="en-US" sz="1850" dirty="0"/>
          </a:p>
        </p:txBody>
      </p:sp>
      <p:sp>
        <p:nvSpPr>
          <p:cNvPr id="5" name="Text 2"/>
          <p:cNvSpPr/>
          <p:nvPr/>
        </p:nvSpPr>
        <p:spPr>
          <a:xfrm>
            <a:off x="977479" y="2801640"/>
            <a:ext cx="2966467" cy="15120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450" spc="-30" kern="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White-box (FGSM 91.62%, PGD 100%), Black-box (Square 86.75%, Extraction 80.3% fidelity). Complete model failure at industry-standard perturbation.</a:t>
            </a:r>
            <a:endParaRPr lang="en-US" sz="145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347359" y="2178546"/>
            <a:ext cx="3496877" cy="3256855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4663363" y="2392958"/>
            <a:ext cx="2966467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50" b="1" spc="-56" kern="0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Pipeline Vulnerabilities</a:t>
            </a:r>
            <a:endParaRPr lang="en-US" sz="1850" dirty="0"/>
          </a:p>
        </p:txBody>
      </p:sp>
      <p:sp>
        <p:nvSpPr>
          <p:cNvPr id="8" name="Text 4"/>
          <p:cNvSpPr/>
          <p:nvPr/>
        </p:nvSpPr>
        <p:spPr>
          <a:xfrm>
            <a:off x="4663363" y="2801640"/>
            <a:ext cx="2966467" cy="24193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450" spc="-30" kern="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 total vulnerabilities: V-01 No authentication (CRITICAL), V-02 Full probability exposure (HIGH), V-04 No rate limiting (CRITICAL), V-05 No adversarial detection (HIGH), V-06 Container runs as root (MEDIUM), V-07 No logging (MEDIUM).</a:t>
            </a:r>
            <a:endParaRPr lang="en-US" sz="1450" dirty="0"/>
          </a:p>
        </p:txBody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033244" y="2178546"/>
            <a:ext cx="3496877" cy="3256855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8349247" y="2392958"/>
            <a:ext cx="2966467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50" b="1" spc="-56" kern="0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Root Cause</a:t>
            </a:r>
            <a:endParaRPr lang="en-US" sz="1850" dirty="0"/>
          </a:p>
        </p:txBody>
      </p:sp>
      <p:sp>
        <p:nvSpPr>
          <p:cNvPr id="11" name="Text 6"/>
          <p:cNvSpPr/>
          <p:nvPr/>
        </p:nvSpPr>
        <p:spPr>
          <a:xfrm>
            <a:off x="8349247" y="2801640"/>
            <a:ext cx="2966467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450" spc="-30" kern="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adversarial training, no input validation, overconfident predictions on perturbed inputs.</a:t>
            </a:r>
            <a:endParaRPr lang="en-US" sz="14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69813"/>
            <a:ext cx="10868745" cy="4576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850" b="1" spc="-87" kern="0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Mitigation Strategies (MITRE ATLAS &amp; NIST AI RMF)</a:t>
            </a:r>
            <a:endParaRPr lang="en-US" sz="2850" dirty="0"/>
          </a:p>
        </p:txBody>
      </p:sp>
      <p:sp>
        <p:nvSpPr>
          <p:cNvPr id="3" name="Shape 1"/>
          <p:cNvSpPr/>
          <p:nvPr/>
        </p:nvSpPr>
        <p:spPr>
          <a:xfrm>
            <a:off x="661475" y="1493044"/>
            <a:ext cx="411946" cy="411956"/>
          </a:xfrm>
          <a:prstGeom prst="roundRect">
            <a:avLst>
              <a:gd name="adj" fmla="val 18669"/>
            </a:avLst>
          </a:prstGeom>
          <a:solidFill>
            <a:srgbClr val="DADBF1"/>
          </a:solidFill>
          <a:ln w="6350">
            <a:solidFill>
              <a:srgbClr val="C0C1D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0133" y="1527373"/>
            <a:ext cx="274631" cy="34329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150" b="1" spc="-65" kern="0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1</a:t>
            </a:r>
            <a:endParaRPr lang="en-US" sz="2150" dirty="0"/>
          </a:p>
        </p:txBody>
      </p:sp>
      <p:sp>
        <p:nvSpPr>
          <p:cNvPr id="5" name="Text 3"/>
          <p:cNvSpPr/>
          <p:nvPr/>
        </p:nvSpPr>
        <p:spPr>
          <a:xfrm>
            <a:off x="1250720" y="1555948"/>
            <a:ext cx="4621791" cy="2860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00" b="1" spc="-54" kern="0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Input Validation &amp; Detection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50720" y="2019300"/>
            <a:ext cx="4621791" cy="5768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1000"/>
              </a:lnSpc>
              <a:buNone/>
            </a:pPr>
            <a:r>
              <a:rPr lang="en-US" sz="1400" spc="-29" kern="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Sanitize inputs, normalize images, and deploy runtime adversarial detectors.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61475" y="2950865"/>
            <a:ext cx="411946" cy="411956"/>
          </a:xfrm>
          <a:prstGeom prst="roundRect">
            <a:avLst>
              <a:gd name="adj" fmla="val 18669"/>
            </a:avLst>
          </a:prstGeom>
          <a:solidFill>
            <a:srgbClr val="DADBF1"/>
          </a:solidFill>
          <a:ln w="6350">
            <a:solidFill>
              <a:srgbClr val="C0C1D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0133" y="2985195"/>
            <a:ext cx="274631" cy="34329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150" b="1" spc="-65" kern="0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2</a:t>
            </a:r>
            <a:endParaRPr lang="en-US" sz="2150" dirty="0"/>
          </a:p>
        </p:txBody>
      </p:sp>
      <p:sp>
        <p:nvSpPr>
          <p:cNvPr id="9" name="Text 7"/>
          <p:cNvSpPr/>
          <p:nvPr/>
        </p:nvSpPr>
        <p:spPr>
          <a:xfrm>
            <a:off x="1250720" y="3013770"/>
            <a:ext cx="4621791" cy="2860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00" b="1" spc="-54" kern="0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Model Hardening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50720" y="3477121"/>
            <a:ext cx="4621791" cy="86528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1000"/>
              </a:lnSpc>
              <a:buNone/>
            </a:pPr>
            <a:r>
              <a:rPr lang="en-US" sz="1400" spc="-29" kern="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Adversarial training (PGD-7, 50/50 clean/adversarial mix, expect 40-50% robust accuracy), ensembles, and randomized smoothing.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61475" y="4697115"/>
            <a:ext cx="411946" cy="411956"/>
          </a:xfrm>
          <a:prstGeom prst="roundRect">
            <a:avLst>
              <a:gd name="adj" fmla="val 18669"/>
            </a:avLst>
          </a:prstGeom>
          <a:solidFill>
            <a:srgbClr val="DADBF1"/>
          </a:solidFill>
          <a:ln w="6350">
            <a:solidFill>
              <a:srgbClr val="C0C1D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0133" y="4731445"/>
            <a:ext cx="274631" cy="34329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150" b="1" spc="-65" kern="0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3</a:t>
            </a:r>
            <a:endParaRPr lang="en-US" sz="2150" dirty="0"/>
          </a:p>
        </p:txBody>
      </p:sp>
      <p:sp>
        <p:nvSpPr>
          <p:cNvPr id="13" name="Text 11"/>
          <p:cNvSpPr/>
          <p:nvPr/>
        </p:nvSpPr>
        <p:spPr>
          <a:xfrm>
            <a:off x="1250720" y="4760020"/>
            <a:ext cx="4621791" cy="2860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00" b="1" spc="-54" kern="0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Infrastructure Controls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250720" y="5223371"/>
            <a:ext cx="4621791" cy="86528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1000"/>
              </a:lnSpc>
              <a:buNone/>
            </a:pPr>
            <a:r>
              <a:rPr lang="en-US" sz="1400" spc="-29" kern="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API rate limiting (100 queries/min), strict auth, least-privilege access, secure logging, and container hardening.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325533" y="1470819"/>
            <a:ext cx="5211037" cy="2860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00" b="1" spc="-54" kern="0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Implementation Priorities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325533" y="1934170"/>
            <a:ext cx="5211037" cy="23382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1000"/>
              </a:lnSpc>
              <a:spcAft>
                <a:spcPts val="1250"/>
              </a:spcAft>
              <a:buNone/>
            </a:pPr>
            <a:r>
              <a:rPr lang="en-US" sz="1400" b="1" spc="-29" kern="0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CRITICAL (Immediate):</a:t>
            </a:r>
            <a:pPr algn="l" indent="0" marL="0">
              <a:lnSpc>
                <a:spcPct val="131000"/>
              </a:lnSpc>
              <a:spcAft>
                <a:spcPts val="1250"/>
              </a:spcAft>
              <a:buNone/>
            </a:pPr>
            <a:r>
              <a:rPr lang="en-US" sz="1400" spc="-29" kern="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M-05 API Authentication (2 hours), M-06 Rate Limiting (2 hours).</a:t>
            </a:r>
            <a:endParaRPr lang="en-US" sz="1400" dirty="0"/>
          </a:p>
          <a:p>
            <a:pPr algn="l" indent="0" marL="0">
              <a:lnSpc>
                <a:spcPct val="131000"/>
              </a:lnSpc>
              <a:spcAft>
                <a:spcPts val="1250"/>
              </a:spcAft>
              <a:buNone/>
            </a:pPr>
            <a:r>
              <a:rPr lang="en-US" sz="1400" b="1" spc="-29" kern="0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HIGH (Short-term):</a:t>
            </a:r>
            <a:pPr algn="l" indent="0" marL="0">
              <a:lnSpc>
                <a:spcPct val="131000"/>
              </a:lnSpc>
              <a:spcAft>
                <a:spcPts val="1250"/>
              </a:spcAft>
              <a:buNone/>
            </a:pPr>
            <a:r>
              <a:rPr lang="en-US" sz="1400" spc="-29" kern="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M-01 Adversarial Training (10 hours), M-07 Minimize Response Data (1 hour).</a:t>
            </a:r>
            <a:endParaRPr lang="en-US" sz="1400" dirty="0"/>
          </a:p>
          <a:p>
            <a:pPr algn="l" indent="0" marL="0">
              <a:lnSpc>
                <a:spcPct val="131000"/>
              </a:lnSpc>
              <a:buNone/>
            </a:pPr>
            <a:r>
              <a:rPr lang="en-US" sz="1400" b="1" spc="-29" kern="0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MEDIUM (Long-term):</a:t>
            </a:r>
            <a:pPr algn="l" indent="0" marL="0">
              <a:lnSpc>
                <a:spcPct val="131000"/>
              </a:lnSpc>
              <a:buNone/>
            </a:pPr>
            <a:r>
              <a:rPr lang="en-US" sz="1400" spc="-29" kern="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M-09 Logging &amp; Monitoring (4 hours), M-10 Container Hardening (3 hours), M-08 Remove /model/info endpoint (1 hour).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196380"/>
            <a:ext cx="10868745" cy="4724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950" b="1" spc="-89" kern="0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Project Deliverables</a:t>
            </a:r>
            <a:endParaRPr lang="en-US" sz="295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1475" y="2046883"/>
            <a:ext cx="472468" cy="47248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70177" y="2046883"/>
            <a:ext cx="4607504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50" b="1" spc="-56" kern="0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Attack Report</a:t>
            </a:r>
            <a:endParaRPr lang="en-US" sz="1850" dirty="0"/>
          </a:p>
        </p:txBody>
      </p:sp>
      <p:sp>
        <p:nvSpPr>
          <p:cNvPr id="5" name="Text 2"/>
          <p:cNvSpPr/>
          <p:nvPr/>
        </p:nvSpPr>
        <p:spPr>
          <a:xfrm>
            <a:off x="1370177" y="2455565"/>
            <a:ext cx="4607504" cy="12096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450" spc="-30" kern="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Detailed findings, per-attack metrics (4 attacks), risk impact assessments, per-class vulnerability breakdown (all 10 CIFAR-10 classes), detailed JSON logs with API responses.</a:t>
            </a:r>
            <a:endParaRPr lang="en-US" sz="145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213915" y="2046883"/>
            <a:ext cx="472468" cy="47248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6922617" y="2046883"/>
            <a:ext cx="4607603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50" b="1" spc="-56" kern="0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Evidence Pack</a:t>
            </a:r>
            <a:endParaRPr lang="en-US" sz="1850" dirty="0"/>
          </a:p>
        </p:txBody>
      </p:sp>
      <p:sp>
        <p:nvSpPr>
          <p:cNvPr id="8" name="Text 4"/>
          <p:cNvSpPr/>
          <p:nvPr/>
        </p:nvSpPr>
        <p:spPr>
          <a:xfrm>
            <a:off x="6922617" y="2455565"/>
            <a:ext cx="4607603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450" spc="-30" kern="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40+ adversarial comparison images across 4 attacks, attack success rate plots and accuracy charts, reproducible artifacts.</a:t>
            </a:r>
            <a:endParaRPr lang="en-US" sz="1450" dirty="0"/>
          </a:p>
        </p:txBody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61475" y="4043263"/>
            <a:ext cx="472468" cy="47248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370177" y="4043263"/>
            <a:ext cx="4607504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50" b="1" spc="-56" kern="0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Code &amp; Automation</a:t>
            </a:r>
            <a:endParaRPr lang="en-US" sz="1850" dirty="0"/>
          </a:p>
        </p:txBody>
      </p:sp>
      <p:sp>
        <p:nvSpPr>
          <p:cNvPr id="11" name="Text 6"/>
          <p:cNvSpPr/>
          <p:nvPr/>
        </p:nvSpPr>
        <p:spPr>
          <a:xfrm>
            <a:off x="1370177" y="4451945"/>
            <a:ext cx="4607504" cy="12096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450" spc="-30" kern="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Python attack framework (torchattacks library), 4 attack scripts with API integration, model extraction pipeline (query → train → transfer), automated setup.sh script.</a:t>
            </a:r>
            <a:endParaRPr lang="en-US" sz="1450" dirty="0"/>
          </a:p>
        </p:txBody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213915" y="4043263"/>
            <a:ext cx="472468" cy="472480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6922617" y="4043263"/>
            <a:ext cx="4607603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50" b="1" spc="-56" kern="0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Guides &amp; Playbooks</a:t>
            </a:r>
            <a:endParaRPr lang="en-US" sz="1850" dirty="0"/>
          </a:p>
        </p:txBody>
      </p:sp>
      <p:sp>
        <p:nvSpPr>
          <p:cNvPr id="14" name="Text 8"/>
          <p:cNvSpPr/>
          <p:nvPr/>
        </p:nvSpPr>
        <p:spPr>
          <a:xfrm>
            <a:off x="6922617" y="4451945"/>
            <a:ext cx="4607603" cy="12096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450" spc="-30" kern="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Individual attack guides, running all attacks guide, evidence interpretation guide, MITRE ATLAS &amp; NIST AI RMF mappings, mitigation playbooks with implementation steps.</a:t>
            </a:r>
            <a:endParaRPr lang="en-US" sz="14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705048"/>
            <a:ext cx="10868745" cy="4356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700" b="1" spc="-82" kern="0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Technical Implementation &amp; Next Steps</a:t>
            </a:r>
            <a:endParaRPr lang="en-US" sz="27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1475" y="2370038"/>
            <a:ext cx="4657112" cy="279429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749980" y="1542256"/>
            <a:ext cx="5786491" cy="27215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700" b="1" spc="-51" kern="0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Technology Stack</a:t>
            </a:r>
            <a:endParaRPr lang="en-US" sz="1700" dirty="0"/>
          </a:p>
        </p:txBody>
      </p:sp>
      <p:sp>
        <p:nvSpPr>
          <p:cNvPr id="5" name="Text 2"/>
          <p:cNvSpPr/>
          <p:nvPr/>
        </p:nvSpPr>
        <p:spPr>
          <a:xfrm>
            <a:off x="5749980" y="1975048"/>
            <a:ext cx="5786491" cy="9479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8000"/>
              </a:lnSpc>
              <a:spcAft>
                <a:spcPts val="1100"/>
              </a:spcAft>
              <a:buNone/>
            </a:pPr>
            <a:r>
              <a:rPr lang="en-US" sz="1350" spc="-27" kern="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Python 3.x attack framework with PyTorch , FastAPI inference server inside Docker containers</a:t>
            </a:r>
            <a:endParaRPr lang="en-US" sz="1350" dirty="0"/>
          </a:p>
          <a:p>
            <a:pPr algn="l" indent="0" marL="0">
              <a:lnSpc>
                <a:spcPct val="128000"/>
              </a:lnSpc>
              <a:buNone/>
            </a:pPr>
            <a:r>
              <a:rPr lang="en-US" sz="1350" spc="-27" kern="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automated setup (setup.sh), reproducible attack runs, standardized logs.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5749980" y="3083620"/>
            <a:ext cx="5786491" cy="27215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700" b="1" spc="-51" kern="0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Quality Assurance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5749980" y="3516412"/>
            <a:ext cx="5786491" cy="53558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350" spc="-27" kern="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Attack validation protocols, evidence verification, code quality checks ensure reproducibility and defensible findings.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5749980" y="4212630"/>
            <a:ext cx="5786491" cy="27215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700" b="1" spc="-51" kern="0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Next Steps 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5749980" y="4645422"/>
            <a:ext cx="5786491" cy="14512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274320" indent="-274320">
              <a:lnSpc>
                <a:spcPct val="128000"/>
              </a:lnSpc>
              <a:buSzPct val="100000"/>
              <a:buFont typeface="+mj-lt"/>
              <a:buAutoNum type="arabicPeriod" startAt="1"/>
            </a:pPr>
            <a:r>
              <a:rPr lang="en-US" sz="1350" spc="-27" kern="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Immediate: Implement input validation, API rate limits, redact metadata from logs.</a:t>
            </a:r>
            <a:endParaRPr lang="en-US" sz="1350" dirty="0"/>
          </a:p>
          <a:p>
            <a:pPr algn="l" marL="274320" indent="-274320">
              <a:lnSpc>
                <a:spcPct val="128000"/>
              </a:lnSpc>
              <a:buSzPct val="100000"/>
              <a:buFont typeface="+mj-lt"/>
              <a:buAutoNum type="arabicPeriod" startAt="2"/>
            </a:pPr>
            <a:r>
              <a:rPr lang="en-US" sz="1350" spc="-27" kern="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Short-term: Deploy adversarial training and ensemble defenses </a:t>
            </a:r>
            <a:endParaRPr lang="en-US" sz="1350" dirty="0"/>
          </a:p>
          <a:p>
            <a:pPr algn="l" marL="274320" indent="-274320">
              <a:lnSpc>
                <a:spcPct val="128000"/>
              </a:lnSpc>
              <a:buSzPct val="100000"/>
              <a:buFont typeface="+mj-lt"/>
              <a:buAutoNum type="arabicPeriod" startAt="3"/>
            </a:pPr>
            <a:r>
              <a:rPr lang="en-US" sz="1350" spc="-27" kern="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Long-term: Continuous red team cycles, monitoring, adopt certified robustness solutions.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/>
  <cp:revision>1</cp:revision>
  <dcterms:created xsi:type="dcterms:W3CDTF">2026-09-28T21:22:28Z</dcterms:created>
  <dcterms:modified xsi:type="dcterms:W3CDTF">2026-09-28T21:22:28Z</dcterms:modified>
</cp:coreProperties>
</file>