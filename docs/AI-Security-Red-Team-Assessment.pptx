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  <p:sldMasterId id="2147483663" r:id="rId4"/>
  </p:sldMasterIdLst>
  <p:notesMasterIdLst>
    <p:notesMasterId r:id="rId6"/>
  </p:notesMasterIdLst>
  <p:sldIdLst>
    <p:sldId id="257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1365" cy="6858000"/>
  <p:notesSz cx="6858000" cy="9144000"/>
  <p:embeddedFontLst>
    <p:embeddedFont>
      <p:font typeface="Alexandria" charset="0"/>
      <p:regular r:id="rId25"/>
    </p:embeddedFont>
    <p:embeddedFont>
      <p:font typeface="Alexandria Bold" charset="0"/>
      <p:regular r:id="rId26"/>
    </p:embeddedFont>
    <p:embeddedFont>
      <p:font typeface="Nobile" charset="0"/>
      <p:regular r:id="rId27"/>
    </p:embeddedFont>
    <p:embeddedFont>
      <p:font typeface="Nobile Bold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204"/>
        <p:guide pos="2924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E8F22A9-FB79-409E-A42D-9CA5C403051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2E406A1-0AC7-4BFE-9BEB-E140CD0957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2017FE3-C26D-4283-AC08-574BC29B39C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BEAED71-041E-4273-AA02-ED11BA14E8B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162B7C60-1CBB-4C83-832B-D5A755E8953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5099ACDD-2444-45F8-B289-94FCD5ADB5D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74E7D2D-099B-4454-A60B-87636467F76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2F2EA15-3C66-48CB-8843-B71429F122C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2429FF3-07F5-4BFF-9364-82A0FDBDD1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881E97-606D-4DDB-B6EB-F79F9BC03E8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0680E7-278B-4F1D-AAE2-4762E5F463B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8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8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73E6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F">
              <a:alpha val="8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30313"/>
            <a:ext cx="6296860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7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 Security Red Team Assessment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5233360" y="3495080"/>
            <a:ext cx="6296860" cy="13325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Subtitle: CIFAR-10 Classifier Security Analysis</a:t>
            </a:r>
            <a:endParaRPr lang="en-US" sz="145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Presented by: TEWDROS TILAHUN 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September 2026</a:t>
            </a:r>
            <a:endParaRPr lang="en-US" sz="145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017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AI Red Teaming Matters</a:t>
            </a:r>
            <a:endParaRPr lang="en-US" sz="29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94520"/>
            <a:ext cx="567021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997795"/>
            <a:ext cx="53162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 Security Gap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>
          <a:xfrm>
            <a:off x="661475" y="3406477"/>
            <a:ext cx="5316206" cy="10206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Traditional cybersecurity focuses on networks and credentials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introduces novel attack surfaces</a:t>
            </a:r>
            <a:endParaRPr lang="en-US" sz="1450"/>
          </a:p>
        </p:txBody>
      </p:sp>
      <p:sp>
        <p:nvSpPr>
          <p:cNvPr id="6" name="Text 3"/>
          <p:cNvSpPr/>
          <p:nvPr/>
        </p:nvSpPr>
        <p:spPr>
          <a:xfrm>
            <a:off x="661475" y="4540548"/>
            <a:ext cx="5316206" cy="9733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manipulation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adversarial inputs, and behavioral exploitation that bypass conventional controls.</a:t>
            </a:r>
            <a:endParaRPr lang="en-US" sz="14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15" y="2194520"/>
            <a:ext cx="567021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3915" y="2997795"/>
            <a:ext cx="5316305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Real-World Stakes</a:t>
            </a:r>
            <a:endParaRPr lang="en-US" sz="1850"/>
          </a:p>
        </p:txBody>
      </p:sp>
      <p:sp>
        <p:nvSpPr>
          <p:cNvPr id="9" name="Text 5"/>
          <p:cNvSpPr/>
          <p:nvPr/>
        </p:nvSpPr>
        <p:spPr>
          <a:xfrm>
            <a:off x="6213915" y="3406477"/>
            <a:ext cx="5316305" cy="19466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Autonomous vehicles: Misclassified stop signs → accidents 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Financial fraud: Manipulated credit scoring → fraudulent approvals 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Medical imaging: Adversarial scans → wrong diagnoses</a:t>
            </a:r>
            <a:endParaRPr lang="en-US" sz="145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4470"/>
            <a:ext cx="6296860" cy="457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8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Is AI Red Teaming?</a:t>
            </a:r>
            <a:endParaRPr lang="en-US" sz="2850"/>
          </a:p>
        </p:txBody>
      </p:sp>
      <p:sp>
        <p:nvSpPr>
          <p:cNvPr id="4" name="Text 1"/>
          <p:cNvSpPr/>
          <p:nvPr/>
        </p:nvSpPr>
        <p:spPr>
          <a:xfrm>
            <a:off x="5233360" y="1248172"/>
            <a:ext cx="6906444" cy="2884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1000"/>
              </a:lnSpc>
              <a:buNone/>
            </a:pPr>
            <a:r>
              <a:rPr lang="en-US" sz="16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Proactive adversarial testing that simulates real attackers to find</a:t>
            </a:r>
            <a:endParaRPr lang="en-US" sz="160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60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sym typeface="+mn-ea"/>
              </a:rPr>
              <a:t>vulnerabilities before attackers do</a:t>
            </a:r>
            <a:endParaRPr lang="en-US" sz="1400"/>
          </a:p>
          <a:p>
            <a:pPr marL="0" indent="0" algn="l">
              <a:lnSpc>
                <a:spcPct val="131000"/>
              </a:lnSpc>
              <a:buNone/>
            </a:pP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5453025" y="1919188"/>
            <a:ext cx="6467115" cy="2929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233360" y="2594769"/>
            <a:ext cx="3059730" cy="2213372"/>
          </a:xfrm>
          <a:prstGeom prst="roundRect">
            <a:avLst>
              <a:gd name="adj" fmla="val 347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8" name="Text 5"/>
          <p:cNvSpPr/>
          <p:nvPr/>
        </p:nvSpPr>
        <p:spPr>
          <a:xfrm>
            <a:off x="5422764" y="2784177"/>
            <a:ext cx="2680923" cy="2860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Robustness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5422764" y="3176587"/>
            <a:ext cx="2680923" cy="11537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1000"/>
              </a:lnSpc>
              <a:buNone/>
            </a:pPr>
            <a:r>
              <a:rPr lang="en-US" sz="14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Assess if adversarial inputs can reliably change model outputs under realistic constraints.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8470390" y="2594769"/>
            <a:ext cx="3059830" cy="2213372"/>
          </a:xfrm>
          <a:prstGeom prst="roundRect">
            <a:avLst>
              <a:gd name="adj" fmla="val 347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1" name="Text 8"/>
          <p:cNvSpPr/>
          <p:nvPr/>
        </p:nvSpPr>
        <p:spPr>
          <a:xfrm>
            <a:off x="8659794" y="2784177"/>
            <a:ext cx="2681022" cy="2860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Pipeline Security</a:t>
            </a:r>
            <a:endParaRPr lang="en-US" sz="1800"/>
          </a:p>
        </p:txBody>
      </p:sp>
      <p:sp>
        <p:nvSpPr>
          <p:cNvPr id="12" name="Text 9"/>
          <p:cNvSpPr/>
          <p:nvPr/>
        </p:nvSpPr>
        <p:spPr>
          <a:xfrm>
            <a:off x="8659794" y="3176587"/>
            <a:ext cx="2681022" cy="1442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1000"/>
              </a:lnSpc>
              <a:buNone/>
            </a:pPr>
            <a:r>
              <a:rPr lang="en-US" sz="14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containerization, API endpoints, authentication, and logging for exposure paths and attack amplification.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233360" y="4985445"/>
            <a:ext cx="6296860" cy="1348085"/>
          </a:xfrm>
          <a:prstGeom prst="roundRect">
            <a:avLst>
              <a:gd name="adj" fmla="val 5705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4" name="Text 11"/>
          <p:cNvSpPr/>
          <p:nvPr/>
        </p:nvSpPr>
        <p:spPr>
          <a:xfrm>
            <a:off x="5422764" y="5174853"/>
            <a:ext cx="5918052" cy="2860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Protection</a:t>
            </a:r>
            <a:endParaRPr lang="en-US" sz="1800"/>
          </a:p>
        </p:txBody>
      </p:sp>
      <p:sp>
        <p:nvSpPr>
          <p:cNvPr id="15" name="Text 12"/>
          <p:cNvSpPr/>
          <p:nvPr/>
        </p:nvSpPr>
        <p:spPr>
          <a:xfrm>
            <a:off x="5422764" y="5567263"/>
            <a:ext cx="5918052" cy="5768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1000"/>
              </a:lnSpc>
              <a:buNone/>
            </a:pPr>
            <a:r>
              <a:rPr lang="en-US" sz="14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 risks of model extraction, data leakage, and theft of training artifacts or IP.</a:t>
            </a:r>
            <a:endParaRPr lang="en-US" sz="14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8102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Assessment Scope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>
          <a:xfrm>
            <a:off x="661475" y="2113062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Target System</a:t>
            </a:r>
            <a:endParaRPr lang="en-US" sz="1850"/>
          </a:p>
        </p:txBody>
      </p:sp>
      <p:sp>
        <p:nvSpPr>
          <p:cNvPr id="4" name="Text 2"/>
          <p:cNvSpPr/>
          <p:nvPr/>
        </p:nvSpPr>
        <p:spPr>
          <a:xfrm>
            <a:off x="661475" y="2597348"/>
            <a:ext cx="5203794" cy="13418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PyTorch CNN classifier trained on CIFAR-10 (10 categories)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Local training &amp; deployment via Docker + FastAPI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Baseline clean-image accuracy: 80.25%</a:t>
            </a:r>
            <a:endParaRPr lang="en-US" sz="1450"/>
          </a:p>
        </p:txBody>
      </p:sp>
      <p:sp>
        <p:nvSpPr>
          <p:cNvPr id="5" name="Text 3"/>
          <p:cNvSpPr/>
          <p:nvPr/>
        </p:nvSpPr>
        <p:spPr>
          <a:xfrm>
            <a:off x="661475" y="4128195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Methodology</a:t>
            </a:r>
            <a:endParaRPr lang="en-US" sz="1850"/>
          </a:p>
        </p:txBody>
      </p:sp>
      <p:sp>
        <p:nvSpPr>
          <p:cNvPr id="6" name="Text 4"/>
          <p:cNvSpPr/>
          <p:nvPr/>
        </p:nvSpPr>
        <p:spPr>
          <a:xfrm>
            <a:off x="661475" y="4612481"/>
            <a:ext cx="520379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MITRE ATLAS taxonomy + NIST adversarial ML guidance; testing performed in a controlled, ethical local environment.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6332776" y="2113062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Attack Vectors Tested</a:t>
            </a:r>
            <a:endParaRPr lang="en-US" sz="1850"/>
          </a:p>
        </p:txBody>
      </p:sp>
      <p:sp>
        <p:nvSpPr>
          <p:cNvPr id="8" name="Text 6"/>
          <p:cNvSpPr/>
          <p:nvPr/>
        </p:nvSpPr>
        <p:spPr>
          <a:xfrm>
            <a:off x="6332776" y="2597348"/>
            <a:ext cx="5203794" cy="14079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Tx/>
              <a:buFont typeface="+mj-lt"/>
              <a:buAutoNum type="arabicPeriod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White-box adversarial examples (FGSM, PGD)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Font typeface="+mj-lt"/>
              <a:buAutoNum type="arabicPeriod" startAt="2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Black-box query attacks (Square Attack)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Font typeface="+mj-lt"/>
              <a:buAutoNum type="arabicPeriod" startAt="3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extraction &amp; transfer attacks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Font typeface="+mj-lt"/>
              <a:buAutoNum type="arabicPeriod" startAt="4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Infrastructure &amp; API security review</a:t>
            </a:r>
            <a:endParaRPr lang="en-US" sz="145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47924" cy="6858000"/>
          </a:xfrm>
          <a:prstGeom prst="rect">
            <a:avLst/>
          </a:prstGeom>
        </p:spPr>
      </p:pic>
      <p:pic>
        <p:nvPicPr>
          <p:cNvPr id="3" name="Image 1" descr="/home/teddy/code/project101/task-01/evidence/adversarial/pgd/eps_4-255/0006_eps4-255_true1_clean1_adv5.png0006_eps4-255_true1_clean1_adv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034" y="2648387"/>
            <a:ext cx="2864485" cy="1683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09399" y="571302"/>
            <a:ext cx="7820822" cy="4430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7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Understanding Adversarial Examples</a:t>
            </a:r>
            <a:endParaRPr lang="en-US" sz="2750"/>
          </a:p>
        </p:txBody>
      </p:sp>
      <p:sp>
        <p:nvSpPr>
          <p:cNvPr id="5" name="Text 1"/>
          <p:cNvSpPr/>
          <p:nvPr/>
        </p:nvSpPr>
        <p:spPr>
          <a:xfrm>
            <a:off x="3709399" y="1263452"/>
            <a:ext cx="7820822" cy="823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Adversarial examples are inputs that appear unchanged to humans but exploit model decision boundaries to produce incorrect outputs. Perturbations are typically tiny (e.g., ≤ epsilon = 8/255).</a:t>
            </a:r>
            <a:endParaRPr lang="en-US" sz="135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399" y="2274193"/>
            <a:ext cx="7820822" cy="1318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981846" y="2846983"/>
            <a:ext cx="7352124" cy="549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9000"/>
              </a:lnSpc>
              <a:buNone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Models optimize for average-case accuracy on clean data and remain sensitive to high-dimensional perturbations.</a:t>
            </a:r>
            <a:endParaRPr lang="en-US" sz="135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399" y="3758605"/>
            <a:ext cx="7820822" cy="1318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81846" y="4331395"/>
            <a:ext cx="7352124" cy="549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9000"/>
              </a:lnSpc>
              <a:buNone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Small pixel shifts (&lt;3%) can reduce accuracy drastically; robust models should retain &gt;40% at ε=8/255.</a:t>
            </a:r>
            <a:endParaRPr lang="en-US" sz="135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399" y="5243016"/>
            <a:ext cx="7820822" cy="104368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981846" y="5815806"/>
            <a:ext cx="7352124" cy="274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9000"/>
              </a:lnSpc>
              <a:buNone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High-dimensional spaces have many "shortcuts" models exploit</a:t>
            </a:r>
            <a:endParaRPr lang="en-US" sz="135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3542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Spectrum of Threats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>
          <a:xfrm>
            <a:off x="661475" y="2204045"/>
            <a:ext cx="10868745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Attackers range from low-effort API abusers to sophisticated insiders with model access. Even low-sophistication attackers achieved high success in our tests.</a:t>
            </a:r>
            <a:endParaRPr lang="en-US" sz="145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61475" y="3021509"/>
          <a:ext cx="10868745" cy="2470087"/>
        </p:xfrm>
        <a:graphic>
          <a:graphicData uri="http://schemas.openxmlformats.org/drawingml/2006/table">
            <a:tbl>
              <a:tblPr/>
              <a:tblGrid>
                <a:gridCol w="3586686"/>
                <a:gridCol w="3586686"/>
                <a:gridCol w="3695373"/>
              </a:tblGrid>
              <a:tr h="541919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 b="1">
                          <a:solidFill>
                            <a:srgbClr val="FFFFFF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Attacker Type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 b="1">
                          <a:solidFill>
                            <a:srgbClr val="FFFFFF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Access Required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1B5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5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4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 b="1">
                          <a:solidFill>
                            <a:srgbClr val="FFFFFF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Observed Result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1B5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5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4DA"/>
                    </a:solidFill>
                  </a:tcPr>
                </a:tc>
              </a:tr>
              <a:tr h="541919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White-box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Model weights + gradients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PGD — 100% success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Black-box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API query access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Square Attack — 87% success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844330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Transfer / Extraction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Surrogate model from queries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4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Model extraction → 80% transfer success</a:t>
                      </a:r>
                      <a:endParaRPr lang="en-US" sz="14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89018" marR="189018" marT="6350" marB="6350" vert="horz" anchor="ctr">
                    <a:lnL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5773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Traditional Defenses Fail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>
          <a:xfrm>
            <a:off x="661475" y="2651720"/>
            <a:ext cx="10868745" cy="10394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Firewalls and encryption don't block adversarial inputs — they are valid, correctly formatted requests.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Input validation checks file type and size but cannot detect semantic manipulations that exploit learned features.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controls may limit who can send requests but not whether those requests are adversarial.</a:t>
            </a:r>
            <a:endParaRPr lang="en-US" sz="1450"/>
          </a:p>
        </p:txBody>
      </p:sp>
      <p:sp>
        <p:nvSpPr>
          <p:cNvPr id="4" name="Shape 2"/>
          <p:cNvSpPr/>
          <p:nvPr/>
        </p:nvSpPr>
        <p:spPr>
          <a:xfrm>
            <a:off x="661475" y="390376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2DDF9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171454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140002"/>
            <a:ext cx="10065490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Mitigation requires AI-aware controls: adversarial training, query-rate limiting, output noise/obfuscation, and active monitoring of model behavior.</a:t>
            </a:r>
            <a:endParaRPr lang="en-US" sz="145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0123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  <a:sym typeface="+mn-ea"/>
              </a:rPr>
              <a:t>Attack </a:t>
            </a:r>
            <a:r>
              <a:rPr lang="en-US" alt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  <a:sym typeface="+mn-ea"/>
              </a:rPr>
              <a:t>1</a:t>
            </a: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— FGSM (White-box Baseline)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>
          <a:xfrm>
            <a:off x="661475" y="2696071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 Gradient Sign Method: single-step gradient-based perturbation used as a fast baseline </a:t>
            </a:r>
            <a:r>
              <a:rPr lang="en-US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attack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11116"/>
            <a:ext cx="3496877" cy="1706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6832" y="3406477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Execution</a:t>
            </a:r>
            <a:endParaRPr lang="en-US" sz="1850"/>
          </a:p>
        </p:txBody>
      </p:sp>
      <p:sp>
        <p:nvSpPr>
          <p:cNvPr id="6" name="Text 3"/>
          <p:cNvSpPr/>
          <p:nvPr/>
        </p:nvSpPr>
        <p:spPr>
          <a:xfrm>
            <a:off x="856832" y="3815159"/>
            <a:ext cx="3106164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Applied to 200 images — runtime: 28 seconds.</a:t>
            </a:r>
            <a:endParaRPr lang="en-US" sz="14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359" y="3211116"/>
            <a:ext cx="3496877" cy="1706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42716" y="3406477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 (ε=8/255)</a:t>
            </a:r>
            <a:endParaRPr lang="en-US" sz="1850"/>
          </a:p>
        </p:txBody>
      </p:sp>
      <p:sp>
        <p:nvSpPr>
          <p:cNvPr id="9" name="Text 5"/>
          <p:cNvSpPr/>
          <p:nvPr/>
        </p:nvSpPr>
        <p:spPr>
          <a:xfrm>
            <a:off x="4542716" y="3815159"/>
            <a:ext cx="310616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Attack success: 91.62% — model accuracy fell from 83.5% to 8.4%; all classes impacted.</a:t>
            </a:r>
            <a:endParaRPr lang="en-US" sz="145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3244" y="3211116"/>
            <a:ext cx="3496877" cy="1706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8600" y="3406477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Takeaway</a:t>
            </a:r>
            <a:endParaRPr lang="en-US" sz="1850"/>
          </a:p>
        </p:txBody>
      </p:sp>
      <p:sp>
        <p:nvSpPr>
          <p:cNvPr id="12" name="Text 7"/>
          <p:cNvSpPr/>
          <p:nvPr/>
        </p:nvSpPr>
        <p:spPr>
          <a:xfrm>
            <a:off x="8228600" y="3815159"/>
            <a:ext cx="310616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Even a single-step attack reliably degrades model performance — indicates shallow robustness.</a:t>
            </a:r>
            <a:endParaRPr lang="en-US" sz="145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9864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  <a:sym typeface="+mn-ea"/>
              </a:rPr>
              <a:t>Attack </a:t>
            </a:r>
            <a:r>
              <a:rPr lang="en-US" alt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  <a:sym typeface="+mn-ea"/>
              </a:rPr>
              <a:t>2</a:t>
            </a:r>
            <a:r>
              <a:rPr lang="en-US" sz="29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— PGD (White-box Advanced)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>
          <a:xfrm>
            <a:off x="661475" y="2525812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Projected Gradient Descent: iterative, multi-step method with random starts — the de facto robustness benchmark.</a:t>
            </a:r>
            <a:endParaRPr lang="en-US" sz="14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40856"/>
            <a:ext cx="3496877" cy="2047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255268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Parameters</a:t>
            </a:r>
            <a:endParaRPr lang="en-US" sz="1850"/>
          </a:p>
        </p:txBody>
      </p:sp>
      <p:sp>
        <p:nvSpPr>
          <p:cNvPr id="6" name="Text 3"/>
          <p:cNvSpPr/>
          <p:nvPr/>
        </p:nvSpPr>
        <p:spPr>
          <a:xfrm>
            <a:off x="977479" y="3663950"/>
            <a:ext cx="296646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 iterations, random restarts, ε=8/255.</a:t>
            </a:r>
            <a:endParaRPr lang="en-US" sz="14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359" y="3040856"/>
            <a:ext cx="3496877" cy="2047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3255268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</a:t>
            </a:r>
            <a:endParaRPr lang="en-US" sz="1850"/>
          </a:p>
        </p:txBody>
      </p:sp>
      <p:sp>
        <p:nvSpPr>
          <p:cNvPr id="9" name="Text 5"/>
          <p:cNvSpPr/>
          <p:nvPr/>
        </p:nvSpPr>
        <p:spPr>
          <a:xfrm>
            <a:off x="4663363" y="3663950"/>
            <a:ext cx="2966467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Attack success: 100.00% — model accuracy collapsed to 0.00% (all 167 previously-correct images misclassified).</a:t>
            </a:r>
            <a:endParaRPr lang="en-US" sz="145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3244" y="3040856"/>
            <a:ext cx="3496877" cy="20471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3255268"/>
            <a:ext cx="296646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Implication</a:t>
            </a:r>
            <a:endParaRPr lang="en-US" sz="1850"/>
          </a:p>
        </p:txBody>
      </p:sp>
      <p:sp>
        <p:nvSpPr>
          <p:cNvPr id="12" name="Text 7"/>
          <p:cNvSpPr/>
          <p:nvPr/>
        </p:nvSpPr>
        <p:spPr>
          <a:xfrm>
            <a:off x="8349247" y="3663950"/>
            <a:ext cx="2966467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model exhibits an absolute vulnerability ceiling — adversarial training or architectural changes required to shift it.</a:t>
            </a:r>
            <a:endParaRPr lang="en-US" sz="145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302"/>
            <a:ext cx="10868745" cy="4983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1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Attack 3 - Square Attack (Black-box)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661475" y="1271488"/>
            <a:ext cx="10868745" cy="7392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3000"/>
              </a:lnSpc>
              <a:spcAft>
                <a:spcPts val="1150"/>
              </a:spcAft>
              <a:buNone/>
            </a:pPr>
            <a:r>
              <a:rPr lang="en-US" sz="15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87% success with only API access—no model knowledge required</a:t>
            </a:r>
            <a:endParaRPr lang="en-US" sz="155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5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Method:</a:t>
            </a:r>
            <a:endParaRPr lang="en-US" sz="1550"/>
          </a:p>
        </p:txBody>
      </p:sp>
      <p:sp>
        <p:nvSpPr>
          <p:cNvPr id="4" name="Text 2"/>
          <p:cNvSpPr/>
          <p:nvPr/>
        </p:nvSpPr>
        <p:spPr>
          <a:xfrm>
            <a:off x="661670" y="2162175"/>
            <a:ext cx="10868660" cy="9359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0" indent="-254000" algn="l">
              <a:lnSpc>
                <a:spcPct val="123000"/>
              </a:lnSpc>
              <a:buSzTx/>
              <a:buChar char="•"/>
            </a:pPr>
            <a:r>
              <a:rPr lang="en-US" sz="12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Query-based optimization</a:t>
            </a:r>
            <a:endParaRPr lang="en-US" sz="1250"/>
          </a:p>
          <a:p>
            <a:pPr marL="254000" indent="-254000" algn="l">
              <a:lnSpc>
                <a:spcPct val="123000"/>
              </a:lnSpc>
              <a:buSzTx/>
              <a:buChar char="•"/>
            </a:pPr>
            <a:r>
              <a:rPr lang="en-US" sz="12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gradients needed (API queries only)</a:t>
            </a:r>
            <a:endParaRPr lang="en-US" sz="1250"/>
          </a:p>
          <a:p>
            <a:pPr marL="254000" indent="-254000" algn="l">
              <a:lnSpc>
                <a:spcPct val="123000"/>
              </a:lnSpc>
              <a:buSzTx/>
              <a:buChar char="•"/>
            </a:pPr>
            <a:r>
              <a:rPr lang="en-US" sz="12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square perturbations</a:t>
            </a:r>
            <a:endParaRPr lang="en-US" sz="1250"/>
          </a:p>
          <a:p>
            <a:pPr marL="254000" indent="-254000" algn="l">
              <a:lnSpc>
                <a:spcPct val="123000"/>
              </a:lnSpc>
              <a:buSzTx/>
              <a:buChar char="•"/>
            </a:pPr>
            <a:r>
              <a:rPr lang="en-US" sz="12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Adaptive search strategy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661475" y="3445570"/>
            <a:ext cx="10868745" cy="249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Query Budget Analysis:</a:t>
            </a:r>
            <a:endParaRPr lang="en-US" sz="155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61475" y="3896519"/>
          <a:ext cx="10868744" cy="1655722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412343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Budget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Success Rate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Median Queries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Time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518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50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42.77%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7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58s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518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200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68.67%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14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148s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343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500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86.75%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31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271s</a:t>
                      </a:r>
                      <a:endParaRPr lang="en-US" sz="125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59485" marR="159485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670" y="5716270"/>
            <a:ext cx="10525760" cy="542925"/>
          </a:xfrm>
          <a:prstGeom prst="roundRect">
            <a:avLst>
              <a:gd name="adj" fmla="val 11745"/>
            </a:avLst>
          </a:prstGeom>
          <a:solidFill>
            <a:srgbClr val="D2DDF9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15" y="5909766"/>
            <a:ext cx="199325" cy="159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9830" y="5890895"/>
            <a:ext cx="10458450" cy="368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3000"/>
              </a:lnSpc>
              <a:buNone/>
            </a:pPr>
            <a:r>
              <a:rPr lang="en-US" sz="125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Finding: </a:t>
            </a:r>
            <a:r>
              <a:rPr lang="en-US" altLang="en-US" sz="125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attacks used </a:t>
            </a:r>
            <a:r>
              <a:rPr lang="en-US" altLang="en-US" sz="1250" b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46,572 </a:t>
            </a:r>
            <a:r>
              <a:rPr lang="en-US" altLang="en-US" sz="125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queries with out rate limiting and </a:t>
            </a:r>
            <a:r>
              <a:rPr lang="en-US" sz="125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Most successful attacks need only 31 queries (median) </a:t>
            </a:r>
            <a:endParaRPr lang="en-US" altLang="en-US" sz="1250" b="1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  <a:sym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542"/>
            <a:ext cx="10868745" cy="350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2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Attack 4 - Model Extraction </a:t>
            </a:r>
            <a:r>
              <a:rPr lang="en-US" sz="22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&amp; transfer attacks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661475" y="1042194"/>
            <a:ext cx="11478330" cy="1787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6000"/>
              </a:lnSpc>
              <a:buNone/>
            </a:pPr>
            <a:r>
              <a:rPr lang="en-US" sz="14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10,000 queries replicate 80% of model behavior—enables </a:t>
            </a:r>
            <a:r>
              <a:rPr lang="en-US" sz="14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transfer </a:t>
            </a:r>
            <a:r>
              <a:rPr lang="en-US" sz="14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attacks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661475" y="1295896"/>
            <a:ext cx="11478330" cy="1430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720" indent="-172720" algn="l">
              <a:lnSpc>
                <a:spcPct val="106000"/>
              </a:lnSpc>
              <a:buSzTx/>
              <a:buChar char="​"/>
            </a:pPr>
            <a:r>
              <a:rPr lang="en-US" sz="12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Victim parameters: 1,342,122</a:t>
            </a:r>
            <a:endParaRPr lang="en-US" sz="120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172720" indent="-172720" algn="l">
              <a:lnSpc>
                <a:spcPct val="106000"/>
              </a:lnSpc>
              <a:buSzTx/>
              <a:buChar char="​"/>
            </a:pP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661475" y="1311275"/>
            <a:ext cx="112214" cy="112216"/>
          </a:xfrm>
          <a:prstGeom prst="roundRect">
            <a:avLst>
              <a:gd name="adj" fmla="val 42006"/>
            </a:avLst>
          </a:prstGeom>
          <a:noFill/>
          <a:ln w="12700">
            <a:solidFill>
              <a:srgbClr val="1B54DA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6" name="Text 4"/>
          <p:cNvSpPr/>
          <p:nvPr/>
        </p:nvSpPr>
        <p:spPr>
          <a:xfrm>
            <a:off x="661475" y="1505466"/>
            <a:ext cx="11478330" cy="1430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720" indent="-172720" algn="l">
              <a:lnSpc>
                <a:spcPct val="106000"/>
              </a:lnSpc>
              <a:buSzTx/>
              <a:buChar char="​"/>
            </a:pPr>
            <a:r>
              <a:rPr lang="en-US" sz="12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Surrogate parameters: 620,810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61475" y="1520845"/>
            <a:ext cx="112214" cy="112216"/>
          </a:xfrm>
          <a:prstGeom prst="roundRect">
            <a:avLst>
              <a:gd name="adj" fmla="val 42006"/>
            </a:avLst>
          </a:prstGeom>
          <a:noFill/>
          <a:ln w="12700">
            <a:solidFill>
              <a:srgbClr val="1B54DA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8" name="Text 6"/>
          <p:cNvSpPr/>
          <p:nvPr/>
        </p:nvSpPr>
        <p:spPr>
          <a:xfrm>
            <a:off x="660840" y="1804968"/>
            <a:ext cx="10868745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" altLang="en-US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It has 4steps</a:t>
            </a:r>
            <a:endParaRPr lang="" altLang="en-US">
              <a:solidFill>
                <a:srgbClr val="1B1B27"/>
              </a:solidFill>
              <a:latin typeface="Alexandria" pitchFamily="34" charset="0"/>
              <a:ea typeface="Alexandria" pitchFamily="34" charset="-122"/>
              <a:cs typeface="Alexandria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1475" y="2373809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B8C3D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0" name="Shape 8"/>
          <p:cNvSpPr/>
          <p:nvPr/>
        </p:nvSpPr>
        <p:spPr>
          <a:xfrm>
            <a:off x="1982341" y="2211834"/>
            <a:ext cx="12700" cy="336649"/>
          </a:xfrm>
          <a:prstGeom prst="roundRect">
            <a:avLst>
              <a:gd name="adj" fmla="val 49999"/>
            </a:avLst>
          </a:prstGeom>
          <a:solidFill>
            <a:srgbClr val="B8C3D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1" name="Shape 9"/>
          <p:cNvSpPr/>
          <p:nvPr/>
        </p:nvSpPr>
        <p:spPr>
          <a:xfrm>
            <a:off x="1862488" y="2085628"/>
            <a:ext cx="252505" cy="252512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2" name="Text 10"/>
          <p:cNvSpPr/>
          <p:nvPr/>
        </p:nvSpPr>
        <p:spPr>
          <a:xfrm>
            <a:off x="1904555" y="2106662"/>
            <a:ext cx="168271" cy="2103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773688" y="2660848"/>
            <a:ext cx="2430302" cy="210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Query API 10,000 times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720313" y="2211834"/>
            <a:ext cx="12700" cy="336649"/>
          </a:xfrm>
          <a:prstGeom prst="roundRect">
            <a:avLst>
              <a:gd name="adj" fmla="val 49999"/>
            </a:avLst>
          </a:prstGeom>
          <a:solidFill>
            <a:srgbClr val="B8C3D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5" name="Shape 13"/>
          <p:cNvSpPr/>
          <p:nvPr/>
        </p:nvSpPr>
        <p:spPr>
          <a:xfrm>
            <a:off x="4600460" y="2085628"/>
            <a:ext cx="252505" cy="252512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6" name="Text 14"/>
          <p:cNvSpPr/>
          <p:nvPr/>
        </p:nvSpPr>
        <p:spPr>
          <a:xfrm>
            <a:off x="4642528" y="2106662"/>
            <a:ext cx="168271" cy="2103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3511661" y="2660848"/>
            <a:ext cx="2430302" cy="4208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 surrogate on victim's predictions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7458285" y="2211834"/>
            <a:ext cx="12700" cy="336649"/>
          </a:xfrm>
          <a:prstGeom prst="roundRect">
            <a:avLst>
              <a:gd name="adj" fmla="val 49999"/>
            </a:avLst>
          </a:prstGeom>
          <a:solidFill>
            <a:srgbClr val="B8C3D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9" name="Shape 17"/>
          <p:cNvSpPr/>
          <p:nvPr/>
        </p:nvSpPr>
        <p:spPr>
          <a:xfrm>
            <a:off x="7338432" y="2085628"/>
            <a:ext cx="252505" cy="252512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0" name="Text 18"/>
          <p:cNvSpPr/>
          <p:nvPr/>
        </p:nvSpPr>
        <p:spPr>
          <a:xfrm>
            <a:off x="7380500" y="2106662"/>
            <a:ext cx="168271" cy="2103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249633" y="2660848"/>
            <a:ext cx="2430302" cy="210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Test agreement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10196357" y="2211834"/>
            <a:ext cx="12700" cy="336649"/>
          </a:xfrm>
          <a:prstGeom prst="roundRect">
            <a:avLst>
              <a:gd name="adj" fmla="val 49999"/>
            </a:avLst>
          </a:prstGeom>
          <a:solidFill>
            <a:srgbClr val="B8C3D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3" name="Shape 21"/>
          <p:cNvSpPr/>
          <p:nvPr/>
        </p:nvSpPr>
        <p:spPr>
          <a:xfrm>
            <a:off x="10076503" y="2085628"/>
            <a:ext cx="252505" cy="252512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4" name="Text 22"/>
          <p:cNvSpPr/>
          <p:nvPr/>
        </p:nvSpPr>
        <p:spPr>
          <a:xfrm>
            <a:off x="10118571" y="2106662"/>
            <a:ext cx="168271" cy="2103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8987605" y="2660848"/>
            <a:ext cx="2430402" cy="2104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3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Adversarial transfer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661475" y="3181648"/>
            <a:ext cx="10868745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Results:</a:t>
            </a:r>
            <a:endParaRPr lang="en-US" sz="1750"/>
          </a:p>
        </p:txBody>
      </p:sp>
      <p:sp>
        <p:nvSpPr>
          <p:cNvPr id="27" name="Text 25"/>
          <p:cNvSpPr/>
          <p:nvPr/>
        </p:nvSpPr>
        <p:spPr>
          <a:xfrm>
            <a:off x="661475" y="3618111"/>
            <a:ext cx="5392702" cy="370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29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80.3%</a:t>
            </a:r>
            <a:endParaRPr lang="en-US" sz="2900"/>
          </a:p>
        </p:txBody>
      </p:sp>
      <p:sp>
        <p:nvSpPr>
          <p:cNvPr id="28" name="Text 26"/>
          <p:cNvSpPr/>
          <p:nvPr/>
        </p:nvSpPr>
        <p:spPr>
          <a:xfrm>
            <a:off x="661475" y="4094460"/>
            <a:ext cx="5392702" cy="175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1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Agreement rate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61475" y="4309666"/>
            <a:ext cx="5392702" cy="1430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6000"/>
              </a:lnSpc>
              <a:buNone/>
            </a:pPr>
            <a:r>
              <a:rPr lang="en-US" sz="8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(surrogate mimics victim)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6137419" y="3618111"/>
            <a:ext cx="5392801" cy="370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29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95</a:t>
            </a:r>
            <a:endParaRPr lang="en-US" sz="2900"/>
          </a:p>
        </p:txBody>
      </p:sp>
      <p:sp>
        <p:nvSpPr>
          <p:cNvPr id="31" name="Text 29"/>
          <p:cNvSpPr/>
          <p:nvPr/>
        </p:nvSpPr>
        <p:spPr>
          <a:xfrm>
            <a:off x="6137419" y="4094460"/>
            <a:ext cx="5392801" cy="175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1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Queries/second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137419" y="4309666"/>
            <a:ext cx="5392801" cy="1430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6000"/>
              </a:lnSpc>
              <a:buNone/>
            </a:pPr>
            <a:r>
              <a:rPr lang="en-US" sz="8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(no throttling)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661475" y="4642048"/>
            <a:ext cx="5392702" cy="370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29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80.12%</a:t>
            </a:r>
            <a:endParaRPr lang="en-US" sz="2900"/>
          </a:p>
        </p:txBody>
      </p:sp>
      <p:sp>
        <p:nvSpPr>
          <p:cNvPr id="34" name="Text 32"/>
          <p:cNvSpPr/>
          <p:nvPr/>
        </p:nvSpPr>
        <p:spPr>
          <a:xfrm>
            <a:off x="661475" y="5118398"/>
            <a:ext cx="5392702" cy="175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1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Transfer success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61475" y="5333603"/>
            <a:ext cx="5392702" cy="1430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6000"/>
              </a:lnSpc>
              <a:buNone/>
            </a:pPr>
            <a:r>
              <a:rPr lang="en-US" sz="8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(adversarials crafted on surrogate fool victim)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137419" y="4642048"/>
            <a:ext cx="5392801" cy="370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29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8.8</a:t>
            </a:r>
            <a:endParaRPr lang="en-US" sz="2900"/>
          </a:p>
        </p:txBody>
      </p:sp>
      <p:sp>
        <p:nvSpPr>
          <p:cNvPr id="37" name="Text 35"/>
          <p:cNvSpPr/>
          <p:nvPr/>
        </p:nvSpPr>
        <p:spPr>
          <a:xfrm>
            <a:off x="6137419" y="5118398"/>
            <a:ext cx="5392801" cy="175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1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Total time (minutes)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61475" y="5576590"/>
            <a:ext cx="10868745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Impact:</a:t>
            </a:r>
            <a:endParaRPr lang="en-US" sz="1750"/>
          </a:p>
        </p:txBody>
      </p:sp>
      <p:sp>
        <p:nvSpPr>
          <p:cNvPr id="39" name="Text 37"/>
          <p:cNvSpPr/>
          <p:nvPr/>
        </p:nvSpPr>
        <p:spPr>
          <a:xfrm>
            <a:off x="661475" y="5956995"/>
            <a:ext cx="10868745" cy="309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720" indent="-172720" algn="l">
              <a:lnSpc>
                <a:spcPct val="106000"/>
              </a:lnSpc>
              <a:buSzTx/>
              <a:buChar char="•"/>
            </a:pPr>
            <a:r>
              <a:rPr lang="en-US" sz="12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Intellectual property stolen</a:t>
            </a:r>
            <a:endParaRPr lang="en-US" sz="1200"/>
          </a:p>
          <a:p>
            <a:pPr marL="172720" indent="-172720" algn="l">
              <a:lnSpc>
                <a:spcPct val="106000"/>
              </a:lnSpc>
              <a:buSzTx/>
              <a:buChar char="•"/>
            </a:pPr>
            <a:r>
              <a:rPr lang="en-US" sz="12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Attacker gains gradient access (white-box capability from black-box starting point)</a:t>
            </a:r>
            <a:endParaRPr lang="en-US" sz="120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521"/>
            <a:ext cx="10868745" cy="415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6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Attack Success Comparison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661475" y="1136948"/>
            <a:ext cx="10868745" cy="11461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8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Black-box attacks rival white-box effectiveness </a:t>
            </a:r>
            <a:r>
              <a:rPr lang="" altLang="en-US" sz="28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But they are more </a:t>
            </a:r>
            <a:r>
              <a:rPr lang="en-US" sz="28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practical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61475" y="2423220"/>
            <a:ext cx="11478330" cy="1810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4000"/>
              </a:lnSpc>
              <a:buNone/>
            </a:pPr>
            <a:r>
              <a:rPr lang="en-US" sz="1000" b="1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Success Rate Summary:</a:t>
            </a:r>
            <a:endParaRPr lang="en-US" sz="10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61475" y="2709366"/>
          <a:ext cx="10868744" cy="155482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309059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Attack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Access Level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Success Rate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Severity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23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PGD (white-box)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Model weights + gradients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100%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CRITICAL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23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FGSM (white-box)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Model weights + gradients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92%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CRITICAL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23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Square (black-box)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API queries only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87%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CRITICAL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059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Extraction+Transfer (black-box)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API queries only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80%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CRITICAL</a:t>
                      </a:r>
                      <a:endParaRPr lang="en-US" sz="10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32903" marR="132903" marT="6350" marB="6350" vert="horz" anchor="ctr">
                    <a:lnL w="12700" cap="flat" cmpd="sng" algn="ctr">
                      <a:solidFill>
                        <a:srgbClr val="F9F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4381996"/>
            <a:ext cx="11478330" cy="1810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4000"/>
              </a:lnSpc>
              <a:buNone/>
            </a:pPr>
            <a:r>
              <a:rPr lang="en-US" sz="1000" b="1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Key Insight:</a:t>
            </a:r>
            <a:r>
              <a:rPr lang="en-US" sz="10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Gap between white-box (100%) and black-box (80-87%) is narrow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661475" y="4668143"/>
            <a:ext cx="10868745" cy="3947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 algn="l">
              <a:lnSpc>
                <a:spcPct val="114000"/>
              </a:lnSpc>
              <a:buSzTx/>
              <a:buChar char="•"/>
            </a:pPr>
            <a:r>
              <a:rPr lang="en-US" sz="10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Black-box attacks are practical, not theoretical</a:t>
            </a:r>
            <a:endParaRPr lang="en-US" sz="1000"/>
          </a:p>
          <a:p>
            <a:pPr marL="203200" indent="-203200" algn="l">
              <a:lnSpc>
                <a:spcPct val="114000"/>
              </a:lnSpc>
              <a:buSzTx/>
              <a:buChar char="•"/>
            </a:pPr>
            <a:r>
              <a:rPr lang="en-US" sz="10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access is sufficient for high-success attacks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661475" y="5168007"/>
            <a:ext cx="11478330" cy="1810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4000"/>
              </a:lnSpc>
              <a:buNone/>
            </a:pPr>
            <a:r>
              <a:rPr lang="en-US" sz="1000" b="1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Threat Realism Ranking: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661475" y="5454154"/>
            <a:ext cx="10868745" cy="8222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 algn="l">
              <a:lnSpc>
                <a:spcPct val="114000"/>
              </a:lnSpc>
              <a:buSzTx/>
              <a:buFont typeface="+mj-lt"/>
              <a:buAutoNum type="arabicPeriod"/>
            </a:pPr>
            <a:r>
              <a:rPr lang="en-US" sz="10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extraction (most realistic: API-only, 10-min setup)</a:t>
            </a:r>
            <a:endParaRPr lang="en-US" sz="1000"/>
          </a:p>
          <a:p>
            <a:pPr marL="203200" indent="-203200" algn="l">
              <a:lnSpc>
                <a:spcPct val="114000"/>
              </a:lnSpc>
              <a:buSzTx/>
              <a:buFont typeface="+mj-lt"/>
              <a:buAutoNum type="arabicPeriod" startAt="2"/>
            </a:pPr>
            <a:r>
              <a:rPr lang="en-US" sz="10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Square Attack (highly realistic: query-based, no model access)</a:t>
            </a:r>
            <a:endParaRPr lang="en-US" sz="1000"/>
          </a:p>
          <a:p>
            <a:pPr marL="203200" indent="-203200" algn="l">
              <a:lnSpc>
                <a:spcPct val="114000"/>
              </a:lnSpc>
              <a:buSzTx/>
              <a:buFont typeface="+mj-lt"/>
              <a:buAutoNum type="arabicPeriod" startAt="3"/>
            </a:pPr>
            <a:r>
              <a:rPr lang="en-US" sz="10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PGD (moderate: requires stolen weights or insider)</a:t>
            </a:r>
            <a:endParaRPr lang="en-US" sz="1000"/>
          </a:p>
          <a:p>
            <a:pPr marL="203200" indent="-203200" algn="l">
              <a:lnSpc>
                <a:spcPct val="114000"/>
              </a:lnSpc>
              <a:buSzTx/>
              <a:buFont typeface="+mj-lt"/>
              <a:buAutoNum type="arabicPeriod" startAt="4"/>
            </a:pPr>
            <a:r>
              <a:rPr lang="en-US" sz="10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FGSM (baseline: simplest attack, high success)</a:t>
            </a:r>
            <a:endParaRPr lang="en-US" sz="10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695"/>
            <a:ext cx="10868745" cy="5537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4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Root Cause Analysis</a:t>
            </a:r>
            <a:endParaRPr lang="en-US" sz="3450"/>
          </a:p>
        </p:txBody>
      </p:sp>
      <p:sp>
        <p:nvSpPr>
          <p:cNvPr id="3" name="Text 1"/>
          <p:cNvSpPr/>
          <p:nvPr/>
        </p:nvSpPr>
        <p:spPr>
          <a:xfrm>
            <a:off x="661670" y="1349375"/>
            <a:ext cx="10868660" cy="9182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8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Model has zero adversarial robustness by design—not trained to resist attacks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61475" y="2267565"/>
            <a:ext cx="11478330" cy="274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 b="1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Why Is The Model Vulnerable?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498280" y="2760782"/>
            <a:ext cx="5351329" cy="1958479"/>
          </a:xfrm>
          <a:prstGeom prst="roundRect">
            <a:avLst>
              <a:gd name="adj" fmla="val 380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6" name="Text 4"/>
          <p:cNvSpPr/>
          <p:nvPr/>
        </p:nvSpPr>
        <p:spPr>
          <a:xfrm>
            <a:off x="681830" y="2944336"/>
            <a:ext cx="4984228" cy="276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 No Adversarial Training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81830" y="3320871"/>
            <a:ext cx="4984228" cy="12148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Trained only on clean data</a:t>
            </a:r>
            <a:endParaRPr lang="en-US" sz="1350"/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Never exposed to adversarial examples</a:t>
            </a:r>
            <a:endParaRPr lang="en-US" sz="1350"/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Decision boundaries optimized for accuracy, not robustness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6015697" y="2760782"/>
            <a:ext cx="5351329" cy="1958479"/>
          </a:xfrm>
          <a:prstGeom prst="roundRect">
            <a:avLst>
              <a:gd name="adj" fmla="val 380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9" name="Text 7"/>
          <p:cNvSpPr/>
          <p:nvPr/>
        </p:nvSpPr>
        <p:spPr>
          <a:xfrm>
            <a:off x="6199247" y="2944336"/>
            <a:ext cx="4984228" cy="276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 No Input Validation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6199247" y="3320871"/>
            <a:ext cx="4984228" cy="9401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accepts all valid images</a:t>
            </a:r>
            <a:endParaRPr lang="en-US" sz="1350"/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adversarial detection</a:t>
            </a:r>
            <a:endParaRPr lang="en-US" sz="1350"/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anomaly scoring</a:t>
            </a:r>
            <a:endParaRPr lang="en-US" sz="1350"/>
          </a:p>
        </p:txBody>
      </p:sp>
      <p:sp>
        <p:nvSpPr>
          <p:cNvPr id="17" name="Shape 3"/>
          <p:cNvSpPr/>
          <p:nvPr/>
        </p:nvSpPr>
        <p:spPr>
          <a:xfrm>
            <a:off x="498475" y="4888230"/>
            <a:ext cx="5351145" cy="1740535"/>
          </a:xfrm>
          <a:prstGeom prst="roundRect">
            <a:avLst>
              <a:gd name="adj" fmla="val 380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8" name="Text 4"/>
          <p:cNvSpPr/>
          <p:nvPr/>
        </p:nvSpPr>
        <p:spPr>
          <a:xfrm>
            <a:off x="681830" y="5071586"/>
            <a:ext cx="4984228" cy="276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" altLang="en-US" sz="17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r>
              <a:rPr lang="en-US" sz="17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. Overconfident Predictions</a:t>
            </a:r>
            <a:endParaRPr lang="en-US" sz="1700">
              <a:solidFill>
                <a:srgbClr val="404155"/>
              </a:solidFill>
              <a:latin typeface="Alexandria" pitchFamily="34" charset="0"/>
              <a:ea typeface="Alexandria" pitchFamily="34" charset="-122"/>
              <a:cs typeface="Alexandria" pitchFamily="34" charset="-12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81830" y="5448121"/>
            <a:ext cx="4984228" cy="12148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Trained  High confidence without calibration makes the model overconfident and brittle</a:t>
            </a:r>
            <a:endParaRPr lang="en-US" sz="13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endParaRPr lang="en-US" sz="13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Small perturbations cause drastic confidence shifts</a:t>
            </a:r>
            <a:endParaRPr lang="en-US" sz="13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indent="0" algn="l">
              <a:lnSpc>
                <a:spcPct val="129000"/>
              </a:lnSpc>
              <a:buSzTx/>
              <a:buNone/>
            </a:pPr>
            <a:endParaRPr lang="en-US" sz="1350"/>
          </a:p>
        </p:txBody>
      </p:sp>
      <p:sp>
        <p:nvSpPr>
          <p:cNvPr id="20" name="Shape 6"/>
          <p:cNvSpPr/>
          <p:nvPr/>
        </p:nvSpPr>
        <p:spPr>
          <a:xfrm>
            <a:off x="6015990" y="4888230"/>
            <a:ext cx="5351145" cy="1700530"/>
          </a:xfrm>
          <a:prstGeom prst="roundRect">
            <a:avLst>
              <a:gd name="adj" fmla="val 3800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1" name="Text 7"/>
          <p:cNvSpPr/>
          <p:nvPr/>
        </p:nvSpPr>
        <p:spPr>
          <a:xfrm>
            <a:off x="6199247" y="5071586"/>
            <a:ext cx="4984228" cy="276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 Smooth Decision Boundaries</a:t>
            </a:r>
            <a:endParaRPr lang="en-US" sz="1700">
              <a:solidFill>
                <a:srgbClr val="404155"/>
              </a:solidFill>
              <a:latin typeface="Alexandria" pitchFamily="34" charset="0"/>
              <a:ea typeface="Alexandria" pitchFamily="34" charset="-122"/>
              <a:cs typeface="Alexandria" pitchFamily="34" charset="-12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199247" y="5448121"/>
            <a:ext cx="4984228" cy="9401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Neural networks are differentiable everywhere</a:t>
            </a:r>
            <a:endParaRPr lang="en-US" sz="13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Gradients point directly toward misclassification</a:t>
            </a:r>
            <a:endParaRPr lang="en-US" sz="13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274320" indent="-274320" algn="l">
              <a:lnSpc>
                <a:spcPct val="129000"/>
              </a:lnSpc>
              <a:buSzTx/>
              <a:buChar char="•"/>
            </a:pPr>
            <a:r>
              <a:rPr 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Smooth boundaries make gradient-based attacks effective </a:t>
            </a:r>
            <a:r>
              <a:rPr lang="" altLang="en-US" sz="13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(FGSM,PDG)</a:t>
            </a:r>
            <a:endParaRPr lang="" altLang="en-US" sz="13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397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39441"/>
            <a:ext cx="10868745" cy="3598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25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Infrastructure &amp; API Weaknesses</a:t>
            </a:r>
            <a:endParaRPr lang="en-US" sz="2250"/>
          </a:p>
        </p:txBody>
      </p:sp>
      <p:sp>
        <p:nvSpPr>
          <p:cNvPr id="4" name="Text 1"/>
          <p:cNvSpPr/>
          <p:nvPr/>
        </p:nvSpPr>
        <p:spPr>
          <a:xfrm>
            <a:off x="661475" y="2504579"/>
            <a:ext cx="10868745" cy="4966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1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Pipeline security gaps amplify model vulnerabilities</a:t>
            </a:r>
            <a:endParaRPr lang="en-US" sz="3100"/>
          </a:p>
        </p:txBody>
      </p:sp>
      <p:sp>
        <p:nvSpPr>
          <p:cNvPr id="5" name="Text 2"/>
          <p:cNvSpPr/>
          <p:nvPr/>
        </p:nvSpPr>
        <p:spPr>
          <a:xfrm>
            <a:off x="661475" y="3106539"/>
            <a:ext cx="10868745" cy="287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Critical Findings:</a:t>
            </a:r>
            <a:endParaRPr lang="en-US" sz="180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61475" y="3499743"/>
          <a:ext cx="10868744" cy="1753548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248239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ID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Vulnerability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Impact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Severity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1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V-01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No authentication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Anyone can query model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CRITICAL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1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V-02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Full probability exposure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Enables extraction &amp; Square Attack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CRITICAL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1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V-03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Verbose metadata endpoint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Leaks architecture details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HIGH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1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V-04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No rate limiting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Unlimited queries allowed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CRITICAL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14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V-05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No logging/monitoring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Attacks go undetected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  <a:sym typeface="+mn-ea"/>
                        </a:rPr>
                        <a:t>MEDIUM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239"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V-06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Container weaknesses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Root user, model in image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404155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MEDIUM</a:t>
                      </a:r>
                      <a:endParaRPr lang="en-US" sz="900">
                        <a:latin typeface="Nobile" pitchFamily="34" charset="0"/>
                        <a:ea typeface="Nobile" pitchFamily="34" charset="0"/>
                        <a:cs typeface="Nobile" pitchFamily="34" charset="0"/>
                      </a:endParaRPr>
                    </a:p>
                  </a:txBody>
                  <a:tcPr marL="115183" marR="115183" marT="6350" marB="6350" vert="horz" anchor="ctr">
                    <a:lnL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61475" y="5371306"/>
            <a:ext cx="10868745" cy="287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Attack Enablers:</a:t>
            </a:r>
            <a:endParaRPr lang="en-US" sz="1800"/>
          </a:p>
        </p:txBody>
      </p:sp>
      <p:sp>
        <p:nvSpPr>
          <p:cNvPr id="8" name="Text 4"/>
          <p:cNvSpPr/>
          <p:nvPr/>
        </p:nvSpPr>
        <p:spPr>
          <a:xfrm>
            <a:off x="661475" y="5764510"/>
            <a:ext cx="10868745" cy="493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-182880" algn="l">
              <a:lnSpc>
                <a:spcPct val="107000"/>
              </a:lnSpc>
              <a:buSzTx/>
              <a:buChar char="•"/>
            </a:pPr>
            <a:r>
              <a:rPr lang="en-US" sz="9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extraction: Needs </a:t>
            </a:r>
            <a:r>
              <a:rPr lang="" altLang="en-US" sz="9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</a:t>
            </a:r>
            <a:r>
              <a:rPr lang="" altLang="en-US" sz="9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9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queries + full probabilities ✓</a:t>
            </a:r>
            <a:endParaRPr lang="en-US" sz="900"/>
          </a:p>
          <a:p>
            <a:pPr marL="182880" indent="-182880" algn="l">
              <a:lnSpc>
                <a:spcPct val="107000"/>
              </a:lnSpc>
              <a:buSzTx/>
              <a:buChar char="•"/>
            </a:pPr>
            <a:r>
              <a:rPr lang="en-US" sz="9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Square Attack: Needs full probabilities for optimization ✓</a:t>
            </a:r>
            <a:endParaRPr lang="en-US" sz="900"/>
          </a:p>
          <a:p>
            <a:pPr marL="182880" indent="-182880" algn="l">
              <a:lnSpc>
                <a:spcPct val="107000"/>
              </a:lnSpc>
              <a:buSzTx/>
              <a:buChar char="•"/>
            </a:pPr>
            <a:r>
              <a:rPr lang="en-US" sz="90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attacks: Proceed undetected (no logging) ✓</a:t>
            </a:r>
            <a:endParaRPr lang="en-US" sz="9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7067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70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Mitigations</a:t>
            </a:r>
            <a:endParaRPr lang="en-US" sz="3700"/>
          </a:p>
        </p:txBody>
      </p:sp>
      <p:sp>
        <p:nvSpPr>
          <p:cNvPr id="3" name="Text 1"/>
          <p:cNvSpPr/>
          <p:nvPr/>
        </p:nvSpPr>
        <p:spPr>
          <a:xfrm>
            <a:off x="661475" y="2491184"/>
            <a:ext cx="11478330" cy="3779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8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Layered defense addresses both model and pipeline weaknesses</a:t>
            </a:r>
            <a:endParaRPr lang="en-US" sz="1850"/>
          </a:p>
        </p:txBody>
      </p:sp>
      <p:sp>
        <p:nvSpPr>
          <p:cNvPr id="4" name="Text 2"/>
          <p:cNvSpPr/>
          <p:nvPr/>
        </p:nvSpPr>
        <p:spPr>
          <a:xfrm>
            <a:off x="661475" y="3081734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Mitigation Strategy:</a:t>
            </a:r>
            <a:endParaRPr lang="en-US" sz="1450"/>
          </a:p>
        </p:txBody>
      </p:sp>
      <p:sp>
        <p:nvSpPr>
          <p:cNvPr id="5" name="Text 3"/>
          <p:cNvSpPr/>
          <p:nvPr/>
        </p:nvSpPr>
        <p:spPr>
          <a:xfrm>
            <a:off x="661475" y="3766840"/>
            <a:ext cx="5203794" cy="14079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M-0</a:t>
            </a:r>
            <a:r>
              <a:rPr lang="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API Authentication</a:t>
            </a:r>
            <a:endParaRPr lang="en-US" sz="14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M-0</a:t>
            </a:r>
            <a:r>
              <a:rPr lang="en-US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2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: Minimize Response Data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M-0</a:t>
            </a:r>
            <a:r>
              <a:rPr lang="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Rate Limiting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M-0</a:t>
            </a:r>
            <a:r>
              <a:rPr lang="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Remove Metadata Endpoint</a:t>
            </a:r>
            <a:endParaRPr lang="en-US" sz="1450"/>
          </a:p>
        </p:txBody>
      </p:sp>
      <p:sp>
        <p:nvSpPr>
          <p:cNvPr id="6" name="Text 4"/>
          <p:cNvSpPr/>
          <p:nvPr/>
        </p:nvSpPr>
        <p:spPr>
          <a:xfrm>
            <a:off x="6332776" y="3766840"/>
            <a:ext cx="5203794" cy="10394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M-0</a:t>
            </a:r>
            <a:r>
              <a:rPr lang="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Comprehensive Logging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M-</a:t>
            </a:r>
            <a:r>
              <a:rPr lang="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</a:t>
            </a:r>
            <a:r>
              <a:rPr lang="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Container Hardening</a:t>
            </a:r>
            <a:endParaRPr lang="en-US" sz="145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M-0</a:t>
            </a:r>
            <a:r>
              <a:rPr lang="en-US" alt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7</a:t>
            </a:r>
            <a:r>
              <a:rPr lang="en-US" sz="145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+mn-ea"/>
              </a:rPr>
              <a:t>: Adversarial Training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Tx/>
              <a:buChar char="•"/>
            </a:pPr>
            <a:endParaRPr lang="en-US" sz="145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7575" y="790575"/>
            <a:ext cx="5276215" cy="5276215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7157</Words>
  <Application>WPS Presentation</Application>
  <PresentationFormat>On-screen Show (4:3)</PresentationFormat>
  <Paragraphs>412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41" baseType="lpstr">
      <vt:lpstr>Arial</vt:lpstr>
      <vt:lpstr>SimSun</vt:lpstr>
      <vt:lpstr>Wingdings</vt:lpstr>
      <vt:lpstr>Alexandria</vt:lpstr>
      <vt:lpstr>Alexandria</vt:lpstr>
      <vt:lpstr>Alexandria</vt:lpstr>
      <vt:lpstr>Nobile</vt:lpstr>
      <vt:lpstr>Nobile</vt:lpstr>
      <vt:lpstr>Nobile</vt:lpstr>
      <vt:lpstr>Consolas</vt:lpstr>
      <vt:lpstr>Consolas</vt:lpstr>
      <vt:lpstr>Consolas</vt:lpstr>
      <vt:lpstr>Nobile Bold</vt:lpstr>
      <vt:lpstr>Nobile Bold</vt:lpstr>
      <vt:lpstr>Nobile Bold</vt:lpstr>
      <vt:lpstr>Calibri</vt:lpstr>
      <vt:lpstr>DejaVu Sans</vt:lpstr>
      <vt:lpstr>URW Bookman</vt:lpstr>
      <vt:lpstr>微软雅黑</vt:lpstr>
      <vt:lpstr>Droid Sans Fallback</vt:lpstr>
      <vt:lpstr>Arial Unicode MS</vt:lpstr>
      <vt:lpstr>D050000L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teddy</cp:lastModifiedBy>
  <cp:revision>17</cp:revision>
  <dcterms:created xsi:type="dcterms:W3CDTF">2026-10-04T19:49:51Z</dcterms:created>
  <dcterms:modified xsi:type="dcterms:W3CDTF">2026-10-04T19:49:51Z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